
<file path=[Content_Types].xml><?xml version="1.0" encoding="utf-8"?>
<Types xmlns="http://schemas.openxmlformats.org/package/2006/content-types">
  <Default Extension="jpg" ContentType="image/jp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6" r:id="rId18"/>
    <p:sldId id="277" r:id="rId19"/>
    <p:sldId id="278" r:id="rId20"/>
    <p:sldId id="279" r:id="rId21"/>
    <p:sldId id="280" r:id="rId22"/>
    <p:sldId id="281" r:id="rId23"/>
    <p:sldId id="282" r:id="rId24"/>
  </p:sldIdLst>
  <p:sldSz cx="10693400" cy="6019800"/>
  <p:notesSz cx="10693400" cy="60198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61"/>
    <p:restoredTop sz="94630"/>
  </p:normalViewPr>
  <p:slideViewPr>
    <p:cSldViewPr>
      <p:cViewPr varScale="1">
        <p:scale>
          <a:sx n="95" d="100"/>
          <a:sy n="95" d="100"/>
        </p:scale>
        <p:origin x="192" y="9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1866138"/>
            <a:ext cx="9089390" cy="126415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0055CC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3371088"/>
            <a:ext cx="7485380" cy="1504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SimSun"/>
                <a:cs typeface="SimSu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AAAAAA"/>
                </a:solidFill>
                <a:latin typeface="SimSun"/>
                <a:cs typeface="SimSun"/>
              </a:defRPr>
            </a:lvl1pPr>
          </a:lstStyle>
          <a:p>
            <a:pPr marL="12700">
              <a:lnSpc>
                <a:spcPts val="1265"/>
              </a:lnSpc>
            </a:pPr>
            <a:r>
              <a:rPr spc="-10" dirty="0"/>
              <a:t>虾壳式关节仿生设计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AAAAAA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latin typeface="SimSun"/>
                <a:cs typeface="SimSun"/>
              </a:rPr>
              <a:t>第 </a:t>
            </a:r>
            <a:fld id="{81D60167-4931-47E6-BA6A-407CBD079E47}" type="slidenum">
              <a:rPr dirty="0"/>
              <a:t>‹#›</a:t>
            </a:fld>
            <a:r>
              <a:rPr dirty="0"/>
              <a:t> / </a:t>
            </a:r>
            <a:r>
              <a:rPr lang="en-US" altLang="ko-KR" dirty="0"/>
              <a:t>23 </a:t>
            </a:r>
            <a:r>
              <a:rPr lang="ko-KR" altLang="en-US" dirty="0" err="1"/>
              <a:t>页</a:t>
            </a:r>
            <a:endParaRPr spc="-50" dirty="0">
              <a:latin typeface="SimSun"/>
              <a:cs typeface="SimSu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0055CC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SimSun"/>
                <a:cs typeface="SimSu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AAAAAA"/>
                </a:solidFill>
                <a:latin typeface="SimSun"/>
                <a:cs typeface="SimSun"/>
              </a:defRPr>
            </a:lvl1pPr>
          </a:lstStyle>
          <a:p>
            <a:pPr marL="12700">
              <a:lnSpc>
                <a:spcPts val="1265"/>
              </a:lnSpc>
            </a:pPr>
            <a:r>
              <a:rPr spc="-10" dirty="0"/>
              <a:t>虾壳式关节仿生设计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AAAAAA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latin typeface="SimSun"/>
                <a:cs typeface="SimSun"/>
              </a:rPr>
              <a:t>第 </a:t>
            </a:r>
            <a:fld id="{81D60167-4931-47E6-BA6A-407CBD079E47}" type="slidenum">
              <a:rPr dirty="0"/>
              <a:t>‹#›</a:t>
            </a:fld>
            <a:r>
              <a:rPr dirty="0"/>
              <a:t> / </a:t>
            </a:r>
            <a:r>
              <a:rPr lang="en-US" altLang="ko-KR" dirty="0"/>
              <a:t>23 </a:t>
            </a:r>
            <a:r>
              <a:rPr lang="ko-KR" altLang="en-US" dirty="0" err="1"/>
              <a:t>页</a:t>
            </a:r>
            <a:endParaRPr spc="-50" dirty="0">
              <a:latin typeface="SimSun"/>
              <a:cs typeface="SimSu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0055CC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384554"/>
            <a:ext cx="4651629" cy="39730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384554"/>
            <a:ext cx="4651629" cy="39730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AAAAAA"/>
                </a:solidFill>
                <a:latin typeface="SimSun"/>
                <a:cs typeface="SimSun"/>
              </a:defRPr>
            </a:lvl1pPr>
          </a:lstStyle>
          <a:p>
            <a:pPr marL="12700">
              <a:lnSpc>
                <a:spcPts val="1265"/>
              </a:lnSpc>
            </a:pPr>
            <a:r>
              <a:rPr spc="-10" dirty="0"/>
              <a:t>虾壳式关节仿生设计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AAAAAA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latin typeface="SimSun"/>
                <a:cs typeface="SimSun"/>
              </a:rPr>
              <a:t>第 </a:t>
            </a:r>
            <a:fld id="{81D60167-4931-47E6-BA6A-407CBD079E47}" type="slidenum">
              <a:rPr dirty="0"/>
              <a:t>‹#›</a:t>
            </a:fld>
            <a:r>
              <a:rPr dirty="0"/>
              <a:t> / </a:t>
            </a:r>
            <a:r>
              <a:rPr lang="en-US" altLang="ko-KR" dirty="0"/>
              <a:t>23 </a:t>
            </a:r>
            <a:r>
              <a:rPr lang="ko-KR" altLang="en-US" dirty="0" err="1"/>
              <a:t>页</a:t>
            </a:r>
            <a:endParaRPr spc="-50" dirty="0">
              <a:latin typeface="SimSun"/>
              <a:cs typeface="SimSu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0055CC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AAAAAA"/>
                </a:solidFill>
                <a:latin typeface="SimSun"/>
                <a:cs typeface="SimSun"/>
              </a:defRPr>
            </a:lvl1pPr>
          </a:lstStyle>
          <a:p>
            <a:pPr marL="12700">
              <a:lnSpc>
                <a:spcPts val="1265"/>
              </a:lnSpc>
            </a:pPr>
            <a:r>
              <a:rPr spc="-10" dirty="0"/>
              <a:t>虾壳式关节仿生设计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AAAAAA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latin typeface="SimSun"/>
                <a:cs typeface="SimSun"/>
              </a:rPr>
              <a:t>第 </a:t>
            </a:r>
            <a:fld id="{81D60167-4931-47E6-BA6A-407CBD079E47}" type="slidenum">
              <a:rPr dirty="0"/>
              <a:t>‹#›</a:t>
            </a:fld>
            <a:r>
              <a:rPr dirty="0"/>
              <a:t> / </a:t>
            </a:r>
            <a:r>
              <a:rPr lang="en-US" altLang="ko-KR" dirty="0"/>
              <a:t>23 </a:t>
            </a:r>
            <a:r>
              <a:rPr lang="ko-KR" altLang="en-US" dirty="0" err="1"/>
              <a:t>页</a:t>
            </a:r>
            <a:endParaRPr spc="-50" dirty="0">
              <a:latin typeface="SimSun"/>
              <a:cs typeface="SimSu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AAAAAA"/>
                </a:solidFill>
                <a:latin typeface="SimSun"/>
                <a:cs typeface="SimSun"/>
              </a:defRPr>
            </a:lvl1pPr>
          </a:lstStyle>
          <a:p>
            <a:pPr marL="12700">
              <a:lnSpc>
                <a:spcPts val="1265"/>
              </a:lnSpc>
            </a:pPr>
            <a:r>
              <a:rPr spc="-10" dirty="0"/>
              <a:t>虾壳式关节仿生设计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AAAAAA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latin typeface="SimSun"/>
                <a:cs typeface="SimSun"/>
              </a:rPr>
              <a:t>第 </a:t>
            </a:r>
            <a:fld id="{81D60167-4931-47E6-BA6A-407CBD079E47}" type="slidenum">
              <a:rPr dirty="0"/>
              <a:t>‹#›</a:t>
            </a:fld>
            <a:r>
              <a:rPr dirty="0"/>
              <a:t> / </a:t>
            </a:r>
            <a:r>
              <a:rPr lang="en-US" altLang="ko-KR" dirty="0"/>
              <a:t>23 </a:t>
            </a:r>
            <a:r>
              <a:rPr lang="ko-KR" altLang="en-US" dirty="0" err="1"/>
              <a:t>页</a:t>
            </a:r>
            <a:endParaRPr spc="-50" dirty="0">
              <a:latin typeface="SimSun"/>
              <a:cs typeface="SimSu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47999" y="746842"/>
            <a:ext cx="9396095" cy="38100"/>
          </a:xfrm>
          <a:custGeom>
            <a:avLst/>
            <a:gdLst/>
            <a:ahLst/>
            <a:cxnLst/>
            <a:rect l="l" t="t" r="r" b="b"/>
            <a:pathLst>
              <a:path w="9396095" h="38100">
                <a:moveTo>
                  <a:pt x="9395999" y="0"/>
                </a:moveTo>
                <a:lnTo>
                  <a:pt x="9395999" y="38100"/>
                </a:lnTo>
                <a:lnTo>
                  <a:pt x="0" y="38100"/>
                </a:lnTo>
                <a:lnTo>
                  <a:pt x="0" y="0"/>
                </a:lnTo>
                <a:lnTo>
                  <a:pt x="9395999" y="0"/>
                </a:lnTo>
                <a:close/>
              </a:path>
            </a:pathLst>
          </a:custGeom>
          <a:solidFill>
            <a:srgbClr val="0055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35299" y="249890"/>
            <a:ext cx="5446395" cy="472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0055CC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899" y="1161243"/>
            <a:ext cx="5308600" cy="2331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SimSun"/>
                <a:cs typeface="SimSu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35299" y="5715590"/>
            <a:ext cx="1282700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AAAAAA"/>
                </a:solidFill>
                <a:latin typeface="SimSun"/>
                <a:cs typeface="SimSun"/>
              </a:defRPr>
            </a:lvl1pPr>
          </a:lstStyle>
          <a:p>
            <a:pPr marL="12700">
              <a:lnSpc>
                <a:spcPts val="1265"/>
              </a:lnSpc>
            </a:pPr>
            <a:r>
              <a:rPr spc="-10" dirty="0"/>
              <a:t>虾壳式关节仿生设计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5598414"/>
            <a:ext cx="2459482" cy="3009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293986" y="5696032"/>
            <a:ext cx="763270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AAAAAA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latin typeface="SimSun"/>
                <a:cs typeface="SimSun"/>
              </a:rPr>
              <a:t>第 </a:t>
            </a:r>
            <a:fld id="{81D60167-4931-47E6-BA6A-407CBD079E47}" type="slidenum">
              <a:rPr dirty="0"/>
              <a:t>‹#›</a:t>
            </a:fld>
            <a:r>
              <a:rPr dirty="0"/>
              <a:t> / </a:t>
            </a:r>
            <a:r>
              <a:rPr lang="en-US" altLang="ko-KR" dirty="0"/>
              <a:t>23 </a:t>
            </a:r>
            <a:r>
              <a:rPr lang="ko-KR" altLang="en-US" dirty="0" err="1"/>
              <a:t>页</a:t>
            </a:r>
            <a:endParaRPr spc="-50" dirty="0">
              <a:latin typeface="SimSun"/>
              <a:cs typeface="SimSu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0100" y="1449596"/>
            <a:ext cx="55118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33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 UI"/>
              </a:rPr>
              <a:t>仿生</a:t>
            </a:r>
            <a:r>
              <a:rPr sz="3600" dirty="0">
                <a:solidFill>
                  <a:srgbClr val="0033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虾壳</a:t>
            </a:r>
            <a:r>
              <a:rPr sz="3600" dirty="0">
                <a:solidFill>
                  <a:srgbClr val="0033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 UI"/>
              </a:rPr>
              <a:t>式机械人</a:t>
            </a:r>
            <a:r>
              <a:rPr sz="3600" spc="-15" dirty="0">
                <a:solidFill>
                  <a:srgbClr val="0033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关节设计</a:t>
            </a:r>
            <a:endParaRPr sz="360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 U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06508" y="2623076"/>
            <a:ext cx="60794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75" dirty="0">
                <a:solidFill>
                  <a:srgbClr val="AAAAA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自然刚柔耦合 </a:t>
            </a:r>
            <a:r>
              <a:rPr sz="2000" dirty="0">
                <a:solidFill>
                  <a:srgbClr val="AAAAA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· </a:t>
            </a:r>
            <a:r>
              <a:rPr sz="2000" spc="-5" dirty="0">
                <a:solidFill>
                  <a:srgbClr val="AAAAA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低成本高灵活人形机械人关节核心技术</a:t>
            </a:r>
            <a:endParaRPr sz="200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17901" y="3872757"/>
            <a:ext cx="3621786" cy="6415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100"/>
              </a:spcBef>
              <a:tabLst>
                <a:tab pos="1129665" algn="l"/>
              </a:tabLst>
            </a:pPr>
            <a:r>
              <a:rPr sz="2400" baseline="-3472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项目团队：</a:t>
            </a:r>
            <a:r>
              <a:rPr sz="2400" spc="-112" baseline="-3472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 </a:t>
            </a:r>
            <a:r>
              <a:rPr sz="16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机腱科技（</a:t>
            </a:r>
            <a:r>
              <a:rPr sz="16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Robotech</a:t>
            </a:r>
            <a:r>
              <a:rPr sz="1600" spc="-4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 </a:t>
            </a:r>
            <a:r>
              <a:rPr sz="1600" spc="-25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HK</a:t>
            </a:r>
            <a:r>
              <a:rPr sz="1600" spc="-25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）</a:t>
            </a:r>
            <a:endParaRPr lang="en-US" sz="1600" spc="-25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  <a:p>
            <a:pPr marL="12700" marR="5080">
              <a:lnSpc>
                <a:spcPct val="131900"/>
              </a:lnSpc>
              <a:spcBef>
                <a:spcPts val="100"/>
              </a:spcBef>
              <a:tabLst>
                <a:tab pos="1129665" algn="l"/>
              </a:tabLst>
            </a:pPr>
            <a:r>
              <a:rPr sz="16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日期</a:t>
            </a:r>
            <a:r>
              <a:rPr sz="1600" spc="-5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：</a:t>
            </a:r>
            <a:r>
              <a:rPr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	</a:t>
            </a:r>
            <a:r>
              <a:rPr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2026</a:t>
            </a:r>
            <a:r>
              <a:rPr sz="1600" spc="-1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 </a:t>
            </a:r>
            <a:r>
              <a:rPr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年</a:t>
            </a:r>
            <a:r>
              <a:rPr sz="1600" spc="-40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 </a:t>
            </a:r>
            <a:r>
              <a:rPr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4 </a:t>
            </a:r>
            <a:r>
              <a:rPr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月</a:t>
            </a:r>
            <a:r>
              <a:rPr sz="1600" spc="-40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 </a:t>
            </a:r>
            <a:r>
              <a:rPr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12 </a:t>
            </a:r>
            <a:r>
              <a:rPr sz="1600" spc="-5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日</a:t>
            </a:r>
            <a:endParaRPr sz="160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47999" y="5560650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5999" y="0"/>
                </a:lnTo>
              </a:path>
            </a:pathLst>
          </a:custGeom>
          <a:ln w="6350">
            <a:solidFill>
              <a:srgbClr val="AAAAAA"/>
            </a:solidFill>
          </a:ln>
        </p:spPr>
        <p:txBody>
          <a:bodyPr wrap="square" lIns="0" tIns="0" rIns="0" bIns="0" rtlCol="0"/>
          <a:lstStyle/>
          <a:p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9293986" y="5696032"/>
            <a:ext cx="76327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第 </a:t>
            </a:r>
            <a:fld id="{81D60167-4931-47E6-BA6A-407CBD079E47}" type="slidenum"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fld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/ </a:t>
            </a:r>
            <a:r>
              <a:rPr lang="en-US" altLang="ko-KR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23 </a:t>
            </a:r>
            <a:r>
              <a:rPr lang="ko-KR" altLang="en-US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页</a:t>
            </a:r>
            <a:endParaRPr spc="-5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65"/>
              </a:lnSpc>
            </a:pPr>
            <a:r>
              <a:rPr spc="-1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虾壳式关节仿生设计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298" y="301071"/>
            <a:ext cx="3416001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1-1. </a:t>
            </a:r>
            <a:r>
              <a:rPr spc="-10" dirty="0" err="1"/>
              <a:t>项目名称与简介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609899" y="1212424"/>
            <a:ext cx="9156401" cy="40706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b="1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项目名称</a:t>
            </a:r>
            <a:r>
              <a:rPr sz="16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：机腱科技（</a:t>
            </a:r>
            <a:r>
              <a:rPr sz="16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Robotech</a:t>
            </a:r>
            <a:r>
              <a:rPr sz="1600" spc="-65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 </a:t>
            </a:r>
            <a:r>
              <a:rPr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HK</a:t>
            </a:r>
            <a:r>
              <a:rPr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）</a:t>
            </a:r>
            <a:r>
              <a:rPr sz="1600" spc="-5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仿生虾壳式机械人关节设计</a:t>
            </a:r>
            <a:endParaRPr sz="160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  <a:p>
            <a:pPr marL="38100" marR="30480">
              <a:lnSpc>
                <a:spcPct val="167500"/>
              </a:lnSpc>
              <a:spcBef>
                <a:spcPts val="80"/>
              </a:spcBef>
            </a:pPr>
            <a:r>
              <a:rPr sz="1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项目简介</a:t>
            </a:r>
            <a:r>
              <a:rPr sz="1600" spc="-5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： 本项目旨在开发一款新颖的机械人关节设计，采用仿生设计，通过模仿虾壳的结构和功能，提</a:t>
            </a:r>
            <a:r>
              <a:rPr sz="1600" spc="-5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升机械或人工智能系统的机动性能。</a:t>
            </a:r>
            <a:endParaRPr sz="160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  <a:p>
            <a:pPr marL="38100">
              <a:lnSpc>
                <a:spcPct val="100000"/>
              </a:lnSpc>
              <a:spcBef>
                <a:spcPts val="1125"/>
              </a:spcBef>
            </a:pPr>
            <a:r>
              <a:rPr sz="1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 UI"/>
              </a:rPr>
              <a:t>核心特点</a:t>
            </a:r>
            <a:r>
              <a:rPr sz="1600" spc="-5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：</a:t>
            </a:r>
            <a:endParaRPr sz="160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  <a:p>
            <a:pPr marL="210820" indent="-172720">
              <a:lnSpc>
                <a:spcPct val="100000"/>
              </a:lnSpc>
              <a:spcBef>
                <a:spcPts val="1295"/>
              </a:spcBef>
              <a:buFont typeface="Times New Roman"/>
              <a:buChar char="•"/>
              <a:tabLst>
                <a:tab pos="210820" algn="l"/>
              </a:tabLst>
            </a:pPr>
            <a:r>
              <a:rPr sz="1600" spc="-1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自然灵巧，刚柔耦合</a:t>
            </a:r>
            <a:endParaRPr sz="160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  <a:p>
            <a:pPr marL="210820" indent="-172720">
              <a:lnSpc>
                <a:spcPct val="100000"/>
              </a:lnSpc>
              <a:spcBef>
                <a:spcPts val="1300"/>
              </a:spcBef>
              <a:buFont typeface="Times New Roman"/>
              <a:buChar char="•"/>
              <a:tabLst>
                <a:tab pos="210820" algn="l"/>
              </a:tabLst>
            </a:pPr>
            <a:r>
              <a:rPr sz="1600" spc="-5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低成本、高强度、易伸展的机械人核心技术</a:t>
            </a:r>
            <a:endParaRPr sz="160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  <a:p>
            <a:pPr marL="38100">
              <a:lnSpc>
                <a:spcPct val="100000"/>
              </a:lnSpc>
              <a:spcBef>
                <a:spcPts val="1375"/>
              </a:spcBef>
            </a:pPr>
            <a:r>
              <a:rPr sz="1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 UI"/>
              </a:rPr>
              <a:t>具体</a:t>
            </a:r>
            <a:r>
              <a:rPr sz="1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设计</a:t>
            </a:r>
            <a:r>
              <a:rPr sz="1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 UI"/>
              </a:rPr>
              <a:t>思路与分析</a:t>
            </a:r>
            <a:r>
              <a:rPr sz="1600" spc="-5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：</a:t>
            </a:r>
            <a:endParaRPr sz="160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  <a:p>
            <a:pPr marL="210820" marR="30480" indent="-173355">
              <a:lnSpc>
                <a:spcPct val="167500"/>
              </a:lnSpc>
              <a:buFont typeface="Times New Roman"/>
              <a:buChar char="•"/>
              <a:tabLst>
                <a:tab pos="210820" algn="l"/>
              </a:tabLst>
            </a:pPr>
            <a:r>
              <a:rPr sz="1600" spc="-65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刚柔一体化：通过结合刚性和柔性材料，模仿虾壳的结构特性，使关节既能承受较大的机械负载，又能灵</a:t>
            </a:r>
            <a:r>
              <a:rPr sz="1600" spc="-15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活运动</a:t>
            </a:r>
            <a:r>
              <a:rPr sz="1600" spc="-15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。</a:t>
            </a:r>
            <a:endParaRPr lang="en-US" sz="1600" spc="-15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  <a:p>
            <a:pPr marL="185420" indent="-172720"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  <a:tabLst>
                <a:tab pos="185420" algn="l"/>
              </a:tabLst>
            </a:pPr>
            <a:r>
              <a:rPr lang="zh-CN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反向共轭面设计（</a:t>
            </a:r>
            <a:r>
              <a:rPr lang="en-US" altLang="zh-CN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Reverse</a:t>
            </a:r>
            <a:r>
              <a:rPr lang="zh-CN" altLang="en-US" sz="1600" spc="-2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 </a:t>
            </a:r>
            <a:r>
              <a:rPr lang="en-US" altLang="zh-CN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Conjugate</a:t>
            </a:r>
            <a:r>
              <a:rPr lang="zh-CN" altLang="en-US" sz="1600" spc="-15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 </a:t>
            </a:r>
            <a:r>
              <a:rPr lang="en-US" altLang="zh-CN" sz="1600" spc="-15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Surface</a:t>
            </a:r>
            <a:r>
              <a:rPr lang="zh-CN" altLang="en-US" sz="1600" spc="-815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）</a:t>
            </a:r>
            <a:r>
              <a:rPr lang="zh-CN" altLang="en-US" sz="1600" spc="-15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：这种设计能够优化关节的运动范围和传动效率，同时减少</a:t>
            </a:r>
            <a:r>
              <a:rPr lang="zh-CN" altLang="en-US" sz="1600" spc="-1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机械结构的复杂性。</a:t>
            </a:r>
            <a:endParaRPr lang="zh-CN" altLang="en-US" sz="160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7999" y="5560650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5999" y="0"/>
                </a:lnTo>
              </a:path>
            </a:pathLst>
          </a:custGeom>
          <a:ln w="6350">
            <a:solidFill>
              <a:srgbClr val="AAAA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9293986" y="5696032"/>
            <a:ext cx="76327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第 </a:t>
            </a:r>
            <a:fld id="{81D60167-4931-47E6-BA6A-407CBD079E47}" type="slidenum"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fld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/ </a:t>
            </a:r>
            <a:r>
              <a:rPr lang="en-US" altLang="ko-KR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23 </a:t>
            </a:r>
            <a:r>
              <a:rPr lang="ko-KR" altLang="en-US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页</a:t>
            </a:r>
            <a:endParaRPr spc="-5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65"/>
              </a:lnSpc>
            </a:pPr>
            <a:r>
              <a:rPr spc="-1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虾壳式关节仿生设计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7999" y="695661"/>
            <a:ext cx="9396095" cy="38100"/>
          </a:xfrm>
          <a:custGeom>
            <a:avLst/>
            <a:gdLst/>
            <a:ahLst/>
            <a:cxnLst/>
            <a:rect l="l" t="t" r="r" b="b"/>
            <a:pathLst>
              <a:path w="9396095" h="38100">
                <a:moveTo>
                  <a:pt x="9395999" y="0"/>
                </a:moveTo>
                <a:lnTo>
                  <a:pt x="9395999" y="38099"/>
                </a:lnTo>
                <a:lnTo>
                  <a:pt x="0" y="38099"/>
                </a:lnTo>
                <a:lnTo>
                  <a:pt x="0" y="0"/>
                </a:lnTo>
                <a:lnTo>
                  <a:pt x="9395999" y="0"/>
                </a:lnTo>
                <a:close/>
              </a:path>
            </a:pathLst>
          </a:custGeom>
          <a:solidFill>
            <a:srgbClr val="0055CC"/>
          </a:solidFill>
        </p:spPr>
        <p:txBody>
          <a:bodyPr wrap="square" lIns="0" tIns="0" rIns="0" bIns="0" rtlCol="0"/>
          <a:lstStyle/>
          <a:p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35299" y="249890"/>
            <a:ext cx="5446395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1</a:t>
            </a:r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-2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. 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 UI"/>
              </a:rPr>
              <a:t>理念由来（切入点</a:t>
            </a:r>
            <a:r>
              <a:rPr spc="-5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 UI"/>
              </a:rPr>
              <a:t>）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5299" y="1161243"/>
            <a:ext cx="36830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传统人形机械人关节普遍采用以下方案：</a:t>
            </a:r>
            <a:endParaRPr sz="160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9534441"/>
              </p:ext>
            </p:extLst>
          </p:nvPr>
        </p:nvGraphicFramePr>
        <p:xfrm>
          <a:off x="644825" y="1648287"/>
          <a:ext cx="9396096" cy="1661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950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7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303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21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5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</a:rPr>
                        <a:t>关节类型</a:t>
                      </a:r>
                      <a:endParaRPr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ts val="2130"/>
                        </a:lnSpc>
                      </a:pPr>
                      <a:r>
                        <a:rPr sz="1800" b="1" spc="-15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 UI"/>
                        </a:rPr>
                        <a:t>成本占比</a:t>
                      </a:r>
                      <a:endParaRPr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 UI"/>
                      </a:endParaRPr>
                    </a:p>
                  </a:txBody>
                  <a:tcPr marL="0" marR="0" marT="0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ts val="2130"/>
                        </a:lnSpc>
                      </a:pPr>
                      <a:r>
                        <a:rPr sz="1800" b="1" spc="-15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 UI"/>
                        </a:rPr>
                        <a:t>主要缺点</a:t>
                      </a:r>
                      <a:endParaRPr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 UI"/>
                      </a:endParaRPr>
                    </a:p>
                  </a:txBody>
                  <a:tcPr marL="0" marR="0" marT="0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151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传统刚性多轴关节</a:t>
                      </a:r>
                      <a:endParaRPr 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SimSu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（齿轮</a:t>
                      </a:r>
                      <a:r>
                        <a:rPr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/</a:t>
                      </a:r>
                      <a:r>
                        <a:rPr sz="1800" spc="-25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减速</a:t>
                      </a:r>
                      <a:r>
                        <a:rPr sz="180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器</a:t>
                      </a:r>
                      <a:r>
                        <a:rPr sz="1800" spc="-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）</a:t>
                      </a:r>
                      <a:endParaRPr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SimSun"/>
                      </a:endParaRPr>
                    </a:p>
                  </a:txBody>
                  <a:tcPr marL="0" marR="0" marT="3111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ts val="2050"/>
                        </a:lnSpc>
                      </a:pPr>
                      <a:r>
                        <a:rPr sz="1800" spc="-1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60%–70%</a:t>
                      </a:r>
                      <a:endParaRPr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灵活性差、重量大、无法实现大角度极端姿态</a:t>
                      </a:r>
                      <a:endParaRPr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SimSun"/>
                      </a:endParaRPr>
                    </a:p>
                  </a:txBody>
                  <a:tcPr marL="0" marR="0" marT="3111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谐波减速器关节</a:t>
                      </a:r>
                      <a:endParaRPr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SimSun"/>
                      </a:endParaRPr>
                    </a:p>
                  </a:txBody>
                  <a:tcPr marL="0" marR="0" marT="3111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ts val="2050"/>
                        </a:lnSpc>
                      </a:pPr>
                      <a:r>
                        <a:rPr sz="1800" spc="-1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45%–55%</a:t>
                      </a:r>
                      <a:endParaRPr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成本极高、结构复杂、维护困难、能耗高</a:t>
                      </a:r>
                      <a:endParaRPr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SimSun"/>
                      </a:endParaRPr>
                    </a:p>
                  </a:txBody>
                  <a:tcPr marL="0" marR="0" marT="3111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纯拮抗腱驱动关节</a:t>
                      </a:r>
                      <a:endParaRPr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SimSun"/>
                      </a:endParaRPr>
                    </a:p>
                  </a:txBody>
                  <a:tcPr marL="0" marR="0" marT="3111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ts val="2050"/>
                        </a:lnSpc>
                      </a:pPr>
                      <a:r>
                        <a:rPr sz="1800" spc="-1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55%–65%</a:t>
                      </a:r>
                      <a:endParaRPr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电机数量多、同步控制难、长期磨损严重</a:t>
                      </a:r>
                      <a:endParaRPr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SimSun"/>
                      </a:endParaRPr>
                    </a:p>
                  </a:txBody>
                  <a:tcPr marL="0" marR="0" marT="3111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635299" y="3548843"/>
            <a:ext cx="8369001" cy="9792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5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这些方案共同痛点</a:t>
            </a:r>
            <a:r>
              <a:rPr sz="1500" spc="-5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：高成本</a:t>
            </a:r>
            <a:r>
              <a:rPr lang="zh-TW" altLang="en-US" sz="1500" spc="-5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且</a:t>
            </a:r>
            <a:r>
              <a:rPr sz="1500" spc="-5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灵活性不足</a:t>
            </a:r>
            <a:r>
              <a:rPr sz="1500" spc="-5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。</a:t>
            </a:r>
            <a:endParaRPr sz="150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  <a:p>
            <a:pPr marL="12700" marR="5080">
              <a:lnSpc>
                <a:spcPct val="167500"/>
              </a:lnSpc>
              <a:spcBef>
                <a:spcPts val="75"/>
              </a:spcBef>
            </a:pPr>
            <a:r>
              <a:rPr sz="1500" spc="-5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我们从虾类腹部外骨骼的「多段刚性壳及柔性连接」天然结构中获得灵感，提出虾壳式多段混合关节，旨在以更低</a:t>
            </a:r>
            <a:r>
              <a:rPr sz="1500" spc="-5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成本实现更高的运动灵活性。</a:t>
            </a:r>
            <a:endParaRPr sz="150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47999" y="5560650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5999" y="0"/>
                </a:lnTo>
              </a:path>
            </a:pathLst>
          </a:custGeom>
          <a:ln w="6350">
            <a:solidFill>
              <a:srgbClr val="AAAAAA"/>
            </a:solidFill>
          </a:ln>
        </p:spPr>
        <p:txBody>
          <a:bodyPr wrap="square" lIns="0" tIns="0" rIns="0" bIns="0" rtlCol="0"/>
          <a:lstStyle/>
          <a:p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9293986" y="5696032"/>
            <a:ext cx="76327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第 </a:t>
            </a:r>
            <a:fld id="{81D60167-4931-47E6-BA6A-407CBD079E47}" type="slidenum"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fld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/ </a:t>
            </a:r>
            <a:r>
              <a:rPr lang="en-US" altLang="ko-KR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23 </a:t>
            </a:r>
            <a:r>
              <a:rPr lang="ko-KR" altLang="en-US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页</a:t>
            </a:r>
            <a:endParaRPr spc="-5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65"/>
              </a:lnSpc>
            </a:pPr>
            <a:r>
              <a:rPr spc="-1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虾壳式关节仿生设计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298" y="301071"/>
            <a:ext cx="5397201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2-1. </a:t>
            </a:r>
            <a:r>
              <a:rPr spc="-5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传统关节类型与应用场景对比</a:t>
            </a:r>
            <a:endParaRPr spc="-5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5299" y="1252809"/>
            <a:ext cx="388620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-5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传统主流关节类型及其典型应用场景</a:t>
            </a:r>
            <a:endParaRPr sz="190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8152633"/>
              </p:ext>
            </p:extLst>
          </p:nvPr>
        </p:nvGraphicFramePr>
        <p:xfrm>
          <a:off x="644824" y="1996395"/>
          <a:ext cx="9396095" cy="23336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216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1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33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1795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500" b="1" spc="-15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</a:rPr>
                        <a:t>关节类型</a:t>
                      </a:r>
                      <a:endParaRPr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</a:endParaRPr>
                    </a:p>
                  </a:txBody>
                  <a:tcPr marL="0" marR="0" marT="87630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500" b="1" spc="-15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</a:rPr>
                        <a:t>结构特点</a:t>
                      </a:r>
                      <a:endParaRPr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</a:endParaRPr>
                    </a:p>
                  </a:txBody>
                  <a:tcPr marL="0" marR="0" marT="87630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5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 UI"/>
                        </a:rPr>
                        <a:t>典型</a:t>
                      </a:r>
                      <a:r>
                        <a:rPr sz="15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</a:rPr>
                        <a:t>应</a:t>
                      </a:r>
                      <a:r>
                        <a:rPr sz="15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 UI"/>
                        </a:rPr>
                        <a:t>用</a:t>
                      </a:r>
                      <a:r>
                        <a:rPr sz="15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</a:rPr>
                        <a:t>场</a:t>
                      </a:r>
                      <a:r>
                        <a:rPr sz="1500" b="1" spc="-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 UI"/>
                        </a:rPr>
                        <a:t>景</a:t>
                      </a:r>
                      <a:endParaRPr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 UI"/>
                      </a:endParaRPr>
                    </a:p>
                  </a:txBody>
                  <a:tcPr marL="0" marR="0" marT="87630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18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  <a:p>
                      <a:pPr marL="114300">
                        <a:lnSpc>
                          <a:spcPct val="100000"/>
                        </a:lnSpc>
                      </a:pPr>
                      <a:r>
                        <a:rPr sz="1500" spc="-1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传统刚性多轴关节</a:t>
                      </a:r>
                      <a:endParaRPr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SimSun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  <a:spcBef>
                          <a:spcPts val="1215"/>
                        </a:spcBef>
                      </a:pPr>
                      <a:r>
                        <a:rPr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（齿轮</a:t>
                      </a:r>
                      <a:r>
                        <a:rPr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/</a:t>
                      </a:r>
                      <a:r>
                        <a:rPr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减速器</a:t>
                      </a:r>
                      <a:r>
                        <a:rPr sz="1500" spc="-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）</a:t>
                      </a:r>
                      <a:endParaRPr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SimSun"/>
                      </a:endParaRPr>
                    </a:p>
                  </a:txBody>
                  <a:tcPr marL="0" marR="0" marT="0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500" spc="-5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结构简单、刚性强、精度较高</a:t>
                      </a:r>
                      <a:endParaRPr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SimSun"/>
                      </a:endParaRPr>
                    </a:p>
                  </a:txBody>
                  <a:tcPr marL="0" marR="0" marT="87630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500" spc="-3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工业自动化、精密装配线、</a:t>
                      </a:r>
                      <a:r>
                        <a:rPr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CNC</a:t>
                      </a:r>
                      <a:r>
                        <a:rPr sz="1500" spc="-55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 </a:t>
                      </a:r>
                      <a:r>
                        <a:rPr sz="1500" spc="-3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机床、焊接机械</a:t>
                      </a:r>
                      <a:r>
                        <a:rPr sz="1500" spc="-1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人、通用工业机械臂</a:t>
                      </a:r>
                      <a:endParaRPr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SimSun"/>
                      </a:endParaRPr>
                    </a:p>
                  </a:txBody>
                  <a:tcPr marL="0" marR="0" marT="87630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299" y="2506299"/>
            <a:ext cx="1135846" cy="8244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80100" y="3009900"/>
            <a:ext cx="4069464" cy="2209794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647999" y="5560650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5999" y="0"/>
                </a:lnTo>
              </a:path>
            </a:pathLst>
          </a:custGeom>
          <a:ln w="6350">
            <a:solidFill>
              <a:srgbClr val="AAAAAA"/>
            </a:solidFill>
          </a:ln>
        </p:spPr>
        <p:txBody>
          <a:bodyPr wrap="square" lIns="0" tIns="0" rIns="0" bIns="0" rtlCol="0"/>
          <a:lstStyle/>
          <a:p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9293986" y="5696032"/>
            <a:ext cx="76327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第 </a:t>
            </a:r>
            <a:fld id="{81D60167-4931-47E6-BA6A-407CBD079E47}" type="slidenum"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fld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/ </a:t>
            </a:r>
            <a:r>
              <a:rPr lang="en-US" altLang="ko-KR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23 </a:t>
            </a:r>
            <a:r>
              <a:rPr lang="ko-KR" altLang="en-US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页</a:t>
            </a:r>
            <a:endParaRPr spc="-5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65"/>
              </a:lnSpc>
            </a:pPr>
            <a:r>
              <a:rPr spc="-1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虾壳式关节仿生设计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5322116"/>
              </p:ext>
            </p:extLst>
          </p:nvPr>
        </p:nvGraphicFramePr>
        <p:xfrm>
          <a:off x="644824" y="644824"/>
          <a:ext cx="9395460" cy="41176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21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0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3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2430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500" b="1" spc="-15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</a:rPr>
                        <a:t>关节类型</a:t>
                      </a:r>
                      <a:endParaRPr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</a:endParaRPr>
                    </a:p>
                  </a:txBody>
                  <a:tcPr marL="0" marR="0" marT="87630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500" b="1" spc="-15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</a:rPr>
                        <a:t>结构特点</a:t>
                      </a:r>
                      <a:endParaRPr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</a:endParaRPr>
                    </a:p>
                  </a:txBody>
                  <a:tcPr marL="0" marR="0" marT="87630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5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 UI"/>
                        </a:rPr>
                        <a:t>典型</a:t>
                      </a:r>
                      <a:r>
                        <a:rPr sz="15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</a:rPr>
                        <a:t>应</a:t>
                      </a:r>
                      <a:r>
                        <a:rPr sz="15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 UI"/>
                        </a:rPr>
                        <a:t>用</a:t>
                      </a:r>
                      <a:r>
                        <a:rPr sz="15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</a:rPr>
                        <a:t>场</a:t>
                      </a:r>
                      <a:r>
                        <a:rPr sz="1500" b="1" spc="-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 UI"/>
                        </a:rPr>
                        <a:t>景</a:t>
                      </a:r>
                      <a:endParaRPr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 UI"/>
                      </a:endParaRPr>
                    </a:p>
                  </a:txBody>
                  <a:tcPr marL="0" marR="0" marT="87630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  <a:p>
                      <a:pPr marL="114300">
                        <a:lnSpc>
                          <a:spcPct val="100000"/>
                        </a:lnSpc>
                      </a:pPr>
                      <a:r>
                        <a:rPr sz="1500" spc="-1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谐波减速器关节</a:t>
                      </a:r>
                      <a:endParaRPr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SimSun"/>
                      </a:endParaRPr>
                    </a:p>
                  </a:txBody>
                  <a:tcPr marL="0" marR="0" marT="0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500" spc="-55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体积小、减速比大、精度极高、扭</a:t>
                      </a:r>
                      <a:endParaRPr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SimSun"/>
                      </a:endParaRPr>
                    </a:p>
                    <a:p>
                      <a:pPr marL="114300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500" spc="-25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矩大</a:t>
                      </a:r>
                      <a:endParaRPr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SimSun"/>
                      </a:endParaRPr>
                    </a:p>
                  </a:txBody>
                  <a:tcPr marL="0" marR="0" marT="87630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500" spc="-9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汽车制造</a:t>
                      </a:r>
                      <a:r>
                        <a:rPr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（</a:t>
                      </a:r>
                      <a:r>
                        <a:rPr sz="1500" spc="-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焊接、喷涂、装配</a:t>
                      </a:r>
                      <a:r>
                        <a:rPr sz="1500" spc="-7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）</a:t>
                      </a:r>
                      <a:r>
                        <a:rPr sz="1500" spc="-55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、医疗手术机械人、</a:t>
                      </a:r>
                      <a:endParaRPr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SimSun"/>
                      </a:endParaRPr>
                    </a:p>
                    <a:p>
                      <a:pPr marL="114300">
                        <a:lnSpc>
                          <a:spcPct val="100000"/>
                        </a:lnSpc>
                        <a:spcBef>
                          <a:spcPts val="1215"/>
                        </a:spcBef>
                      </a:pPr>
                      <a:r>
                        <a:rPr sz="1500" spc="-5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航天航空高端装备、高精度工业机械人</a:t>
                      </a:r>
                      <a:endParaRPr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SimSun"/>
                      </a:endParaRPr>
                    </a:p>
                  </a:txBody>
                  <a:tcPr marL="0" marR="0" marT="87630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78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  <a:p>
                      <a:pPr marL="114300">
                        <a:lnSpc>
                          <a:spcPct val="100000"/>
                        </a:lnSpc>
                      </a:pPr>
                      <a:r>
                        <a:rPr sz="1500" spc="-1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纯拮抗腱驱动关节</a:t>
                      </a:r>
                      <a:endParaRPr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SimSun"/>
                      </a:endParaRPr>
                    </a:p>
                  </a:txBody>
                  <a:tcPr marL="0" marR="0" marT="0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500" spc="-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重量轻、柔顺性较好、电机数量多</a:t>
                      </a:r>
                      <a:endParaRPr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SimSun"/>
                      </a:endParaRPr>
                    </a:p>
                  </a:txBody>
                  <a:tcPr marL="0" marR="0" marT="87630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500" spc="-75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轻型协作机械人、物流仓储</a:t>
                      </a:r>
                      <a:r>
                        <a:rPr sz="1500" spc="-1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（</a:t>
                      </a:r>
                      <a:r>
                        <a:rPr sz="1500" spc="-1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AGV</a:t>
                      </a:r>
                      <a:r>
                        <a:rPr sz="1500" spc="-95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 </a:t>
                      </a:r>
                      <a:r>
                        <a:rPr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小车</a:t>
                      </a:r>
                      <a:r>
                        <a:rPr sz="1500" spc="-7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）</a:t>
                      </a:r>
                      <a:r>
                        <a:rPr sz="1500" spc="-11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、部分服</a:t>
                      </a:r>
                      <a:endParaRPr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SimSun"/>
                      </a:endParaRPr>
                    </a:p>
                    <a:p>
                      <a:pPr marL="114300">
                        <a:lnSpc>
                          <a:spcPct val="100000"/>
                        </a:lnSpc>
                        <a:spcBef>
                          <a:spcPts val="1215"/>
                        </a:spcBef>
                      </a:pPr>
                      <a:r>
                        <a:rPr sz="1500" spc="-5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务型机械人、需要一定柔顺性的场景</a:t>
                      </a:r>
                      <a:endParaRPr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SimSun"/>
                      </a:endParaRPr>
                    </a:p>
                  </a:txBody>
                  <a:tcPr marL="0" marR="0" marT="87630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299" y="1154729"/>
            <a:ext cx="1135846" cy="102033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14945" y="1930064"/>
            <a:ext cx="1405164" cy="105387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2299" y="3212538"/>
            <a:ext cx="1135846" cy="38412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14945" y="3987872"/>
            <a:ext cx="1405164" cy="937151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647999" y="5560650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5999" y="0"/>
                </a:lnTo>
              </a:path>
            </a:pathLst>
          </a:custGeom>
          <a:ln w="6350">
            <a:solidFill>
              <a:srgbClr val="AAAA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9293986" y="5696032"/>
            <a:ext cx="76327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第 </a:t>
            </a:r>
            <a:fld id="{81D60167-4931-47E6-BA6A-407CBD079E47}" type="slidenum"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fld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/ </a:t>
            </a:r>
            <a:r>
              <a:rPr lang="en-US" altLang="ko-KR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23 </a:t>
            </a:r>
            <a:r>
              <a:rPr lang="ko-KR" altLang="en-US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页</a:t>
            </a:r>
            <a:endParaRPr spc="-5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65"/>
              </a:lnSpc>
            </a:pPr>
            <a:r>
              <a:rPr spc="-1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虾壳式关节仿生设计</a:t>
            </a:r>
          </a:p>
        </p:txBody>
      </p:sp>
      <p:sp>
        <p:nvSpPr>
          <p:cNvPr id="10" name="object 2"/>
          <p:cNvSpPr txBox="1"/>
          <p:nvPr/>
        </p:nvSpPr>
        <p:spPr>
          <a:xfrm>
            <a:off x="600614" y="4938073"/>
            <a:ext cx="585470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CC0000"/>
                </a:solidFill>
                <a:latin typeface="Microsoft JhengHei UI"/>
                <a:cs typeface="Microsoft JhengHei UI"/>
              </a:rPr>
              <a:t>共同局限：成本高昂且</a:t>
            </a:r>
            <a:r>
              <a:rPr sz="1700" b="1" dirty="0">
                <a:solidFill>
                  <a:srgbClr val="CC0000"/>
                </a:solidFill>
                <a:latin typeface="Microsoft JhengHei"/>
                <a:cs typeface="Microsoft JhengHei"/>
              </a:rPr>
              <a:t>灵</a:t>
            </a:r>
            <a:r>
              <a:rPr sz="1700" b="1" dirty="0">
                <a:solidFill>
                  <a:srgbClr val="CC0000"/>
                </a:solidFill>
                <a:latin typeface="Microsoft JhengHei UI"/>
                <a:cs typeface="Microsoft JhengHei UI"/>
              </a:rPr>
              <a:t>活性不足，</a:t>
            </a:r>
            <a:r>
              <a:rPr sz="1700" b="1" dirty="0">
                <a:solidFill>
                  <a:srgbClr val="CC0000"/>
                </a:solidFill>
                <a:latin typeface="Microsoft JhengHei"/>
                <a:cs typeface="Microsoft JhengHei"/>
              </a:rPr>
              <a:t>难</a:t>
            </a:r>
            <a:r>
              <a:rPr sz="1700" b="1" dirty="0">
                <a:solidFill>
                  <a:srgbClr val="CC0000"/>
                </a:solidFill>
                <a:latin typeface="Microsoft JhengHei UI"/>
                <a:cs typeface="Microsoft JhengHei UI"/>
              </a:rPr>
              <a:t>以</a:t>
            </a:r>
            <a:r>
              <a:rPr sz="1700" b="1" dirty="0">
                <a:solidFill>
                  <a:srgbClr val="CC0000"/>
                </a:solidFill>
                <a:latin typeface="Microsoft JhengHei"/>
                <a:cs typeface="Microsoft JhengHei"/>
              </a:rPr>
              <a:t>实现</a:t>
            </a:r>
            <a:r>
              <a:rPr sz="1700" b="1" dirty="0">
                <a:solidFill>
                  <a:srgbClr val="CC0000"/>
                </a:solidFill>
                <a:latin typeface="Microsoft JhengHei UI"/>
                <a:cs typeface="Microsoft JhengHei UI"/>
              </a:rPr>
              <a:t>大范</a:t>
            </a:r>
            <a:r>
              <a:rPr sz="1700" b="1" dirty="0">
                <a:solidFill>
                  <a:srgbClr val="CC0000"/>
                </a:solidFill>
                <a:latin typeface="Microsoft JhengHei"/>
                <a:cs typeface="Microsoft JhengHei"/>
              </a:rPr>
              <a:t>围极</a:t>
            </a:r>
            <a:r>
              <a:rPr sz="1700" b="1" dirty="0">
                <a:solidFill>
                  <a:srgbClr val="CC0000"/>
                </a:solidFill>
                <a:latin typeface="Microsoft JhengHei UI"/>
                <a:cs typeface="Microsoft JhengHei UI"/>
              </a:rPr>
              <a:t>端姿</a:t>
            </a:r>
            <a:r>
              <a:rPr sz="1700" b="1" spc="-50" dirty="0">
                <a:solidFill>
                  <a:srgbClr val="CC0000"/>
                </a:solidFill>
                <a:latin typeface="Microsoft JhengHei"/>
                <a:cs typeface="Microsoft JhengHei"/>
              </a:rPr>
              <a:t>态</a:t>
            </a:r>
            <a:endParaRPr sz="1700" dirty="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2</a:t>
            </a:r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-2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. </a:t>
            </a:r>
            <a:r>
              <a:rPr dirty="0">
                <a:latin typeface="Microsoft JhengHei UI"/>
                <a:cs typeface="Microsoft JhengHei UI"/>
              </a:rPr>
              <a:t>市</a:t>
            </a:r>
            <a:r>
              <a:rPr dirty="0"/>
              <a:t>场</a:t>
            </a:r>
            <a:r>
              <a:rPr dirty="0">
                <a:latin typeface="Microsoft JhengHei UI"/>
                <a:cs typeface="Microsoft JhengHei UI"/>
              </a:rPr>
              <a:t>的需要（市</a:t>
            </a:r>
            <a:r>
              <a:rPr dirty="0"/>
              <a:t>场</a:t>
            </a:r>
            <a:r>
              <a:rPr dirty="0">
                <a:latin typeface="Microsoft JhengHei UI"/>
                <a:cs typeface="Microsoft JhengHei UI"/>
              </a:rPr>
              <a:t>前景</a:t>
            </a:r>
            <a:r>
              <a:rPr spc="-50" dirty="0">
                <a:latin typeface="Microsoft JhengHei UI"/>
                <a:cs typeface="Microsoft JhengHei UI"/>
              </a:rPr>
              <a:t>）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899" y="1212424"/>
            <a:ext cx="8159115" cy="1515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人形机械人市场正高速增长：</a:t>
            </a:r>
            <a:endParaRPr sz="160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  <a:p>
            <a:pPr marL="210820" indent="-172720">
              <a:lnSpc>
                <a:spcPct val="100000"/>
              </a:lnSpc>
              <a:spcBef>
                <a:spcPts val="1375"/>
              </a:spcBef>
              <a:buChar char="•"/>
              <a:tabLst>
                <a:tab pos="210820" algn="l"/>
              </a:tabLst>
            </a:pPr>
            <a:r>
              <a:rPr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2025 </a:t>
            </a:r>
            <a:r>
              <a:rPr sz="1600" spc="-45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年全球市场规模约 </a:t>
            </a:r>
            <a:r>
              <a:rPr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29 </a:t>
            </a:r>
            <a:r>
              <a:rPr sz="1600" spc="-2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亿美元</a:t>
            </a:r>
            <a:endParaRPr sz="160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  <a:p>
            <a:pPr marL="210820" indent="-172720">
              <a:lnSpc>
                <a:spcPct val="100000"/>
              </a:lnSpc>
              <a:spcBef>
                <a:spcPts val="1295"/>
              </a:spcBef>
              <a:buFont typeface="Times New Roman"/>
              <a:buChar char="•"/>
              <a:tabLst>
                <a:tab pos="210820" algn="l"/>
              </a:tabLst>
            </a:pPr>
            <a:r>
              <a:rPr sz="1600" spc="-135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预计 </a:t>
            </a:r>
            <a:r>
              <a:rPr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2030 </a:t>
            </a:r>
            <a:r>
              <a:rPr sz="1600" spc="-135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年达 </a:t>
            </a:r>
            <a:r>
              <a:rPr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152 </a:t>
            </a:r>
            <a:r>
              <a:rPr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亿美元（</a:t>
            </a:r>
            <a:r>
              <a:rPr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CAGR </a:t>
            </a:r>
            <a:r>
              <a:rPr sz="1600" spc="-1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39.2%</a:t>
            </a:r>
            <a:r>
              <a:rPr sz="1600" spc="-1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）</a:t>
            </a:r>
            <a:endParaRPr sz="160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  <a:p>
            <a:pPr marL="38100">
              <a:lnSpc>
                <a:spcPct val="100000"/>
              </a:lnSpc>
              <a:spcBef>
                <a:spcPts val="1375"/>
              </a:spcBef>
            </a:pPr>
            <a:r>
              <a:rPr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核心需求：高灵活腰部</a:t>
            </a:r>
            <a:r>
              <a:rPr sz="1600" spc="-1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/</a:t>
            </a:r>
            <a:r>
              <a:rPr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脊柱、支持极端姿态（舞蹈、后仰、劈叉</a:t>
            </a:r>
            <a:r>
              <a:rPr sz="1600" spc="-80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）</a:t>
            </a:r>
            <a:r>
              <a:rPr sz="1600" spc="-5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，同时兼顾低成本量产。</a:t>
            </a:r>
            <a:endParaRPr sz="160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7999" y="5560650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5999" y="0"/>
                </a:lnTo>
              </a:path>
            </a:pathLst>
          </a:custGeom>
          <a:ln w="6350">
            <a:solidFill>
              <a:srgbClr val="AAAA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9293986" y="5696032"/>
            <a:ext cx="76327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第 </a:t>
            </a:r>
            <a:fld id="{81D60167-4931-47E6-BA6A-407CBD079E47}" type="slidenum"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fld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/ </a:t>
            </a:r>
            <a:r>
              <a:rPr lang="en-US" altLang="ko-KR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23 </a:t>
            </a:r>
            <a:r>
              <a:rPr lang="ko-KR" altLang="en-US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页</a:t>
            </a:r>
            <a:endParaRPr spc="-5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65"/>
              </a:lnSpc>
            </a:pPr>
            <a:r>
              <a:rPr spc="-1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虾壳式关节仿生设计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298" y="301071"/>
            <a:ext cx="2882601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3. </a:t>
            </a:r>
            <a:r>
              <a:rPr dirty="0">
                <a:latin typeface="Microsoft JhengHei UI"/>
                <a:cs typeface="Microsoft JhengHei UI"/>
              </a:rPr>
              <a:t>我</a:t>
            </a:r>
            <a:r>
              <a:rPr dirty="0"/>
              <a:t>们</a:t>
            </a:r>
            <a:r>
              <a:rPr spc="-20" dirty="0">
                <a:latin typeface="Microsoft JhengHei UI"/>
                <a:cs typeface="Microsoft JhengHei UI"/>
              </a:rPr>
              <a:t>的方案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899" y="1212424"/>
            <a:ext cx="5969000" cy="2331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虾壳式多段柔性关节模块</a:t>
            </a:r>
            <a:endParaRPr sz="160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  <a:p>
            <a:pPr marL="210820" indent="-172720">
              <a:lnSpc>
                <a:spcPct val="100000"/>
              </a:lnSpc>
              <a:spcBef>
                <a:spcPts val="1375"/>
              </a:spcBef>
              <a:buChar char="•"/>
              <a:tabLst>
                <a:tab pos="210820" algn="l"/>
              </a:tabLst>
            </a:pPr>
            <a:r>
              <a:rPr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5 </a:t>
            </a:r>
            <a:r>
              <a:rPr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段仿生脊柱</a:t>
            </a:r>
            <a:r>
              <a:rPr sz="1600" spc="-1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/</a:t>
            </a:r>
            <a:r>
              <a:rPr sz="1600" spc="-15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腰部结构</a:t>
            </a:r>
            <a:endParaRPr sz="160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  <a:p>
            <a:pPr marL="210820" indent="-172720">
              <a:lnSpc>
                <a:spcPct val="100000"/>
              </a:lnSpc>
              <a:spcBef>
                <a:spcPts val="1295"/>
              </a:spcBef>
              <a:buFont typeface="Times New Roman"/>
              <a:buChar char="•"/>
              <a:tabLst>
                <a:tab pos="210820" algn="l"/>
              </a:tabLst>
            </a:pPr>
            <a:r>
              <a:rPr sz="1600" spc="-135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支持 </a:t>
            </a:r>
            <a:r>
              <a:rPr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90°+ </a:t>
            </a:r>
            <a:r>
              <a:rPr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后仰桥、</a:t>
            </a:r>
            <a:r>
              <a:rPr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180°+ </a:t>
            </a:r>
            <a:r>
              <a:rPr sz="1600" spc="-1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劈叉、单腿过头抬高</a:t>
            </a:r>
            <a:endParaRPr sz="160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  <a:p>
            <a:pPr marL="210820" indent="-172720">
              <a:lnSpc>
                <a:spcPct val="100000"/>
              </a:lnSpc>
              <a:spcBef>
                <a:spcPts val="1295"/>
              </a:spcBef>
              <a:buFont typeface="Times New Roman"/>
              <a:buChar char="•"/>
              <a:tabLst>
                <a:tab pos="210820" algn="l"/>
              </a:tabLst>
            </a:pPr>
            <a:r>
              <a:rPr sz="1600" spc="-5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结合腱驱动、弹簧回位与欠驱动优化</a:t>
            </a:r>
            <a:endParaRPr sz="160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  <a:p>
            <a:pPr marL="210820" indent="-172720">
              <a:lnSpc>
                <a:spcPct val="100000"/>
              </a:lnSpc>
              <a:spcBef>
                <a:spcPts val="1300"/>
              </a:spcBef>
              <a:buFont typeface="Times New Roman"/>
              <a:buChar char="•"/>
              <a:tabLst>
                <a:tab pos="210820" algn="l"/>
              </a:tabLst>
            </a:pPr>
            <a:r>
              <a:rPr sz="1600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目标成本 </a:t>
            </a:r>
            <a:r>
              <a:rPr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&lt; </a:t>
            </a:r>
            <a:r>
              <a:rPr lang="en-US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80</a:t>
            </a:r>
            <a:r>
              <a:rPr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0 </a:t>
            </a:r>
            <a:r>
              <a:rPr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美金（</a:t>
            </a:r>
            <a:r>
              <a:rPr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V6 </a:t>
            </a:r>
            <a:r>
              <a:rPr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版本</a:t>
            </a:r>
            <a:r>
              <a:rPr sz="1600" spc="-5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）</a:t>
            </a:r>
            <a:endParaRPr sz="160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  <a:p>
            <a:pPr marL="38100">
              <a:lnSpc>
                <a:spcPct val="100000"/>
              </a:lnSpc>
              <a:spcBef>
                <a:spcPts val="1375"/>
              </a:spcBef>
            </a:pPr>
            <a:r>
              <a:rPr sz="1600" spc="-5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核心价值：以可接受的成本实现接近生物水平的灵活性与顺应性。</a:t>
            </a:r>
            <a:endParaRPr sz="160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7999" y="5560650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5999" y="0"/>
                </a:lnTo>
              </a:path>
            </a:pathLst>
          </a:custGeom>
          <a:ln w="6350">
            <a:solidFill>
              <a:srgbClr val="AAAA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9293986" y="5696032"/>
            <a:ext cx="76327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第 </a:t>
            </a:r>
            <a:fld id="{81D60167-4931-47E6-BA6A-407CBD079E47}" type="slidenum"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7</a:t>
            </a:fld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/ </a:t>
            </a:r>
            <a:r>
              <a:rPr lang="en-US" altLang="ko-KR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23 </a:t>
            </a:r>
            <a:r>
              <a:rPr lang="ko-KR" altLang="en-US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页</a:t>
            </a:r>
            <a:endParaRPr spc="-5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65"/>
              </a:lnSpc>
            </a:pPr>
            <a:r>
              <a:rPr spc="-1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虾壳式关节仿生设计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298" y="301071"/>
            <a:ext cx="2120601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/>
              </a:rPr>
              <a:t>4. </a:t>
            </a:r>
            <a:r>
              <a:rPr dirty="0"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 UI"/>
              </a:rPr>
              <a:t>市</a:t>
            </a:r>
            <a:r>
              <a:rPr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场</a:t>
            </a:r>
            <a:r>
              <a:rPr spc="-25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 UI"/>
              </a:rPr>
              <a:t>分析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899" y="1212424"/>
            <a:ext cx="5402580" cy="19234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当前主要竞争方案：</a:t>
            </a:r>
            <a:endParaRPr sz="160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  <a:p>
            <a:pPr marL="210820" indent="-172720">
              <a:lnSpc>
                <a:spcPct val="100000"/>
              </a:lnSpc>
              <a:spcBef>
                <a:spcPts val="1375"/>
              </a:spcBef>
              <a:buChar char="•"/>
              <a:tabLst>
                <a:tab pos="210820" algn="l"/>
              </a:tabLst>
            </a:pPr>
            <a:r>
              <a:rPr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Boston</a:t>
            </a:r>
            <a:r>
              <a:rPr sz="1600" spc="-5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 </a:t>
            </a:r>
            <a:r>
              <a:rPr sz="1600" spc="-1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Dynamics</a:t>
            </a:r>
            <a:r>
              <a:rPr sz="1600" spc="-9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 </a:t>
            </a:r>
            <a:r>
              <a:rPr sz="1600" spc="-1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Atlas</a:t>
            </a:r>
            <a:r>
              <a:rPr sz="1600" spc="-1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：性能领先，但成本极高</a:t>
            </a:r>
            <a:endParaRPr sz="160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  <a:p>
            <a:pPr marL="210820" indent="-172720">
              <a:lnSpc>
                <a:spcPct val="100000"/>
              </a:lnSpc>
              <a:spcBef>
                <a:spcPts val="1295"/>
              </a:spcBef>
              <a:buChar char="•"/>
              <a:tabLst>
                <a:tab pos="210820" algn="l"/>
              </a:tabLst>
            </a:pPr>
            <a:r>
              <a:rPr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Figure</a:t>
            </a:r>
            <a:r>
              <a:rPr sz="1600" spc="-4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 / </a:t>
            </a:r>
            <a:r>
              <a:rPr sz="1600" spc="-1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Tesla</a:t>
            </a:r>
            <a:r>
              <a:rPr sz="1600" spc="-4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 </a:t>
            </a:r>
            <a:r>
              <a:rPr sz="1600" spc="-1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Optimus</a:t>
            </a:r>
            <a:r>
              <a:rPr sz="1600" spc="-1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：通用性强，腰部灵活性相对保守</a:t>
            </a:r>
            <a:endParaRPr sz="160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  <a:p>
            <a:pPr marL="38100" marR="30480" indent="172720">
              <a:lnSpc>
                <a:spcPts val="3300"/>
              </a:lnSpc>
              <a:spcBef>
                <a:spcPts val="55"/>
              </a:spcBef>
              <a:buChar char="•"/>
              <a:tabLst>
                <a:tab pos="210820" algn="l"/>
              </a:tabLst>
            </a:pPr>
            <a:r>
              <a:rPr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Unitree</a:t>
            </a:r>
            <a:r>
              <a:rPr sz="1600" spc="-5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 / </a:t>
            </a:r>
            <a:r>
              <a:rPr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Agility</a:t>
            </a:r>
            <a:r>
              <a:rPr sz="1600" spc="-35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 </a:t>
            </a:r>
            <a:r>
              <a:rPr sz="1600" spc="-1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Robotics</a:t>
            </a:r>
            <a:r>
              <a:rPr sz="1600" spc="-1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：性价比高，但极端姿态能力不足</a:t>
            </a:r>
            <a:r>
              <a:rPr sz="1600" spc="-5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主流方案仍以传统刚性关节或高成本精密关节为主。</a:t>
            </a:r>
            <a:endParaRPr sz="160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7999" y="5560650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5999" y="0"/>
                </a:lnTo>
              </a:path>
            </a:pathLst>
          </a:custGeom>
          <a:ln w="6350">
            <a:solidFill>
              <a:srgbClr val="AAAA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9293986" y="5696032"/>
            <a:ext cx="76327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第 </a:t>
            </a:r>
            <a:fld id="{81D60167-4931-47E6-BA6A-407CBD079E47}" type="slidenum"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</a:t>
            </a:fld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/ </a:t>
            </a:r>
            <a:r>
              <a:rPr lang="en-US" altLang="ko-KR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23 </a:t>
            </a:r>
            <a:r>
              <a:rPr lang="ko-KR" altLang="en-US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页</a:t>
            </a:r>
            <a:endParaRPr spc="-5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65"/>
              </a:lnSpc>
            </a:pPr>
            <a:r>
              <a:rPr spc="-1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虾壳式关节仿生设计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/>
              </a:rPr>
              <a:t>5. </a:t>
            </a:r>
            <a:r>
              <a:rPr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设计对比（我们的优势</a:t>
            </a:r>
            <a:r>
              <a:rPr spc="-5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）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0417661"/>
              </p:ext>
            </p:extLst>
          </p:nvPr>
        </p:nvGraphicFramePr>
        <p:xfrm>
          <a:off x="644824" y="1250396"/>
          <a:ext cx="9396095" cy="1809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29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5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81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6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b="1" spc="-15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</a:rPr>
                        <a:t>对比维度</a:t>
                      </a:r>
                      <a:endParaRPr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</a:endParaRPr>
                    </a:p>
                  </a:txBody>
                  <a:tcPr marL="0" marR="0" marT="3492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b="1" spc="-1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</a:rPr>
                        <a:t>现有主流设计</a:t>
                      </a:r>
                      <a:endParaRPr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</a:endParaRPr>
                    </a:p>
                  </a:txBody>
                  <a:tcPr marL="0" marR="0" marT="3492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b="1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 UI"/>
                        </a:rPr>
                        <a:t>我</a:t>
                      </a:r>
                      <a:r>
                        <a:rPr sz="1600" b="1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</a:rPr>
                        <a:t>们</a:t>
                      </a:r>
                      <a:r>
                        <a:rPr sz="1600" b="1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 UI"/>
                        </a:rPr>
                        <a:t>的</a:t>
                      </a:r>
                      <a:r>
                        <a:rPr sz="1600" b="1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</a:rPr>
                        <a:t>虾壳</a:t>
                      </a:r>
                      <a:r>
                        <a:rPr sz="1600" b="1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 UI"/>
                        </a:rPr>
                        <a:t>式</a:t>
                      </a:r>
                      <a:r>
                        <a:rPr sz="1600" b="1" spc="-25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</a:rPr>
                        <a:t>设计</a:t>
                      </a:r>
                      <a:r>
                        <a:rPr lang="zh-TW" altLang="en-US" sz="1600" b="1" spc="-25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</a:rPr>
                        <a:t>及应用场景</a:t>
                      </a:r>
                      <a:endParaRPr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</a:endParaRPr>
                    </a:p>
                  </a:txBody>
                  <a:tcPr marL="0" marR="0" marT="3492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15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运动范围</a:t>
                      </a:r>
                      <a:endParaRPr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SimSun"/>
                      </a:endParaRPr>
                    </a:p>
                  </a:txBody>
                  <a:tcPr marL="0" marR="0" marT="3492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5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受限于单轴刚性，极端姿态困难</a:t>
                      </a:r>
                      <a:endParaRPr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SimSun"/>
                      </a:endParaRPr>
                    </a:p>
                  </a:txBody>
                  <a:tcPr marL="0" marR="0" marT="3492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多段设计，支持 </a:t>
                      </a:r>
                      <a:r>
                        <a:rPr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90°+ </a:t>
                      </a:r>
                      <a:r>
                        <a:rPr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后仰、</a:t>
                      </a:r>
                      <a:r>
                        <a:rPr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180°+ </a:t>
                      </a:r>
                      <a:r>
                        <a:rPr sz="1600" spc="-25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劈叉</a:t>
                      </a:r>
                      <a:endParaRPr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SimSun"/>
                      </a:endParaRPr>
                    </a:p>
                  </a:txBody>
                  <a:tcPr marL="0" marR="0" marT="3492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25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成本</a:t>
                      </a:r>
                      <a:endParaRPr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SimSun"/>
                      </a:endParaRPr>
                    </a:p>
                  </a:txBody>
                  <a:tcPr marL="0" marR="0" marT="317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60%–70%</a:t>
                      </a:r>
                      <a:r>
                        <a:rPr sz="1600" spc="-7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机械人总成本</a:t>
                      </a:r>
                      <a:endParaRPr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SimSun"/>
                      </a:endParaRPr>
                    </a:p>
                  </a:txBody>
                  <a:tcPr marL="0" marR="0" marT="3492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zh-HK" altLang="en-US" sz="1600" spc="-5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欠</a:t>
                      </a:r>
                      <a:r>
                        <a:rPr sz="1600" spc="-5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驱动优化，显</a:t>
                      </a:r>
                      <a:r>
                        <a:rPr lang="zh-TW" altLang="en-US" sz="1600" spc="-5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著</a:t>
                      </a:r>
                      <a:r>
                        <a:rPr sz="1600" spc="-5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降低成本</a:t>
                      </a:r>
                      <a:endParaRPr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SimSun"/>
                      </a:endParaRPr>
                    </a:p>
                  </a:txBody>
                  <a:tcPr marL="0" marR="0" marT="3492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灵活性</a:t>
                      </a:r>
                      <a:r>
                        <a:rPr sz="1600" spc="-1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/</a:t>
                      </a:r>
                      <a:r>
                        <a:rPr sz="1600" spc="-2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顺应性</a:t>
                      </a:r>
                      <a:endParaRPr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SimSun"/>
                      </a:endParaRPr>
                    </a:p>
                  </a:txBody>
                  <a:tcPr marL="0" marR="0" marT="3492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1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刚性强、冲击吸收差</a:t>
                      </a:r>
                      <a:endParaRPr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SimSun"/>
                      </a:endParaRPr>
                    </a:p>
                  </a:txBody>
                  <a:tcPr marL="0" marR="0" marT="3492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5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刚柔耦合，良好冲击吸收</a:t>
                      </a:r>
                      <a:endParaRPr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SimSun"/>
                      </a:endParaRPr>
                    </a:p>
                  </a:txBody>
                  <a:tcPr marL="0" marR="0" marT="3492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复杂度</a:t>
                      </a:r>
                      <a:r>
                        <a:rPr sz="1600" spc="-1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/</a:t>
                      </a:r>
                      <a:r>
                        <a:rPr sz="1600" spc="-15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电机数量</a:t>
                      </a:r>
                      <a:endParaRPr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SimSun"/>
                      </a:endParaRPr>
                    </a:p>
                  </a:txBody>
                  <a:tcPr marL="0" marR="0" marT="3492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25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较高</a:t>
                      </a:r>
                      <a:endParaRPr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SimSun"/>
                      </a:endParaRPr>
                    </a:p>
                  </a:txBody>
                  <a:tcPr marL="0" marR="0" marT="3492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显</a:t>
                      </a:r>
                      <a:r>
                        <a:rPr lang="zh-TW" altLang="en-US" sz="1600" spc="-5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著</a:t>
                      </a:r>
                      <a:r>
                        <a:rPr sz="160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减少（弹簧回位及共享电机</a:t>
                      </a:r>
                      <a:r>
                        <a:rPr sz="1600" spc="-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）</a:t>
                      </a:r>
                      <a:endParaRPr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SimSun"/>
                      </a:endParaRPr>
                    </a:p>
                  </a:txBody>
                  <a:tcPr marL="0" marR="0" marT="3492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15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控制难度</a:t>
                      </a:r>
                      <a:endParaRPr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SimSun"/>
                      </a:endParaRPr>
                    </a:p>
                  </a:txBody>
                  <a:tcPr marL="0" marR="0" marT="3492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1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同步困难、能耗较高</a:t>
                      </a:r>
                      <a:endParaRPr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SimSun"/>
                      </a:endParaRPr>
                    </a:p>
                  </a:txBody>
                  <a:tcPr marL="0" marR="0" marT="3492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PPO </a:t>
                      </a:r>
                      <a:r>
                        <a:rPr sz="1600" spc="-5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强化学习及微操作分解，较为平滑</a:t>
                      </a:r>
                      <a:endParaRPr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SimSun"/>
                      </a:endParaRPr>
                    </a:p>
                  </a:txBody>
                  <a:tcPr marL="0" marR="0" marT="3492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635299" y="3459562"/>
            <a:ext cx="9421495" cy="800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-30" dirty="0">
                <a:latin typeface="Microsoft JhengHei"/>
                <a:cs typeface="Microsoft JhengHei"/>
              </a:rPr>
              <a:t>结论：相较于现有主流关节设计，我们的虾壳式关节在运动灵活性、系统成本控制以及结</a:t>
            </a:r>
            <a:endParaRPr sz="1900" dirty="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1900" b="1" spc="-5" dirty="0" err="1">
                <a:latin typeface="Microsoft JhengHei"/>
                <a:cs typeface="Microsoft JhengHei"/>
              </a:rPr>
              <a:t>构可靠性上具备显着竞争优势</a:t>
            </a:r>
            <a:r>
              <a:rPr sz="1900" b="1" spc="-5" dirty="0">
                <a:latin typeface="Microsoft JhengHei"/>
                <a:cs typeface="Microsoft JhengHei"/>
              </a:rPr>
              <a:t>。</a:t>
            </a:r>
            <a:endParaRPr sz="1900" dirty="0">
              <a:latin typeface="Microsoft JhengHei"/>
              <a:cs typeface="Microsoft JhengHe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47999" y="5560650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5999" y="0"/>
                </a:lnTo>
              </a:path>
            </a:pathLst>
          </a:custGeom>
          <a:ln w="6350">
            <a:solidFill>
              <a:srgbClr val="AAAA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9293986" y="5696032"/>
            <a:ext cx="76327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第 </a:t>
            </a:r>
            <a:fld id="{81D60167-4931-47E6-BA6A-407CBD079E47}" type="slidenum"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9</a:t>
            </a:fld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/ </a:t>
            </a:r>
            <a:r>
              <a:rPr lang="en-US" altLang="ko-KR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23 </a:t>
            </a:r>
            <a:r>
              <a:rPr lang="ko-KR" altLang="en-US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页</a:t>
            </a:r>
            <a:endParaRPr spc="-5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65"/>
              </a:lnSpc>
            </a:pPr>
            <a:r>
              <a:rPr spc="-1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虾壳式关节仿生设计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299" y="249890"/>
            <a:ext cx="6707946" cy="464613"/>
          </a:xfrm>
          <a:prstGeom prst="rect">
            <a:avLst/>
          </a:prstGeom>
        </p:spPr>
        <p:txBody>
          <a:bodyPr vert="horz" wrap="square" lIns="0" tIns="63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6. 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 UI"/>
              </a:rPr>
              <a:t>我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们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 UI"/>
              </a:rPr>
              <a:t>的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虾壳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 UI"/>
              </a:rPr>
              <a:t>式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关节设计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 UI"/>
              </a:rPr>
              <a:t>：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CAD </a:t>
            </a:r>
            <a:r>
              <a:rPr spc="-25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 UI"/>
              </a:rPr>
              <a:t>展示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71246" y="891534"/>
            <a:ext cx="3149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虾壳式多段关节完整 </a:t>
            </a:r>
            <a:r>
              <a:rPr sz="1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CAD </a:t>
            </a:r>
            <a:r>
              <a:rPr sz="1800" b="1" spc="-25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 UI"/>
              </a:rPr>
              <a:t>模型</a:t>
            </a:r>
            <a:endParaRPr sz="180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999" y="869442"/>
            <a:ext cx="3022301" cy="450265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771246" y="1257980"/>
            <a:ext cx="4626762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4 </a:t>
            </a:r>
            <a:r>
              <a:rPr sz="15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段刚性壳，</a:t>
            </a:r>
            <a:r>
              <a:rPr sz="15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Dyneema </a:t>
            </a:r>
            <a:r>
              <a:rPr sz="1500" b="1" spc="-5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腱缆路由及弹簧回位机构</a:t>
            </a:r>
            <a:endParaRPr sz="15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7999" y="5560650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5999" y="0"/>
                </a:lnTo>
              </a:path>
            </a:pathLst>
          </a:custGeom>
          <a:ln w="6350">
            <a:solidFill>
              <a:srgbClr val="AAAAAA"/>
            </a:solidFill>
          </a:ln>
        </p:spPr>
        <p:txBody>
          <a:bodyPr wrap="square" lIns="0" tIns="0" rIns="0" bIns="0" rtlCol="0"/>
          <a:lstStyle/>
          <a:p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9293986" y="5696032"/>
            <a:ext cx="1234314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第 </a:t>
            </a:r>
            <a:fld id="{81D60167-4931-47E6-BA6A-407CBD079E47}" type="slidenum"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fld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/ </a:t>
            </a:r>
            <a:r>
              <a:rPr lang="en-US" altLang="ko-KR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23 </a:t>
            </a:r>
            <a:r>
              <a:rPr lang="ko-KR" altLang="en-US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页</a:t>
            </a:r>
            <a:endParaRPr spc="-5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65"/>
              </a:lnSpc>
            </a:pPr>
            <a:r>
              <a:rPr spc="-1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虾壳式关节仿生设计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299" y="249890"/>
            <a:ext cx="6311601" cy="464613"/>
          </a:xfrm>
          <a:prstGeom prst="rect">
            <a:avLst/>
          </a:prstGeom>
        </p:spPr>
        <p:txBody>
          <a:bodyPr vert="horz" wrap="square" lIns="0" tIns="63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6. 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 UI"/>
              </a:rPr>
              <a:t>我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们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 UI"/>
              </a:rPr>
              <a:t>的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虾壳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 UI"/>
              </a:rPr>
              <a:t>式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关节设计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 UI"/>
              </a:rPr>
              <a:t>：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CAD </a:t>
            </a:r>
            <a:r>
              <a:rPr spc="-25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 UI"/>
              </a:rPr>
              <a:t>展示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9900" y="922688"/>
            <a:ext cx="3149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</a:rPr>
              <a:t>虾壳式多段关节完整 </a:t>
            </a:r>
            <a:r>
              <a:rPr sz="18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/>
              </a:rPr>
              <a:t>CAD </a:t>
            </a:r>
            <a:r>
              <a:rPr sz="1800" b="1" spc="-25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 UI"/>
              </a:rPr>
              <a:t>模型</a:t>
            </a:r>
            <a:endParaRPr sz="1800" dirty="0"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5299" y="922688"/>
            <a:ext cx="3492201" cy="452560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279900" y="1295385"/>
            <a:ext cx="76200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2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前视图</a:t>
            </a:r>
            <a:endParaRPr sz="15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7999" y="5560650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5999" y="0"/>
                </a:lnTo>
              </a:path>
            </a:pathLst>
          </a:custGeom>
          <a:ln w="6350">
            <a:solidFill>
              <a:srgbClr val="AAAA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9293986" y="5696032"/>
            <a:ext cx="1234314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第 </a:t>
            </a:r>
            <a:fld id="{81D60167-4931-47E6-BA6A-407CBD079E47}" type="slidenum"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11</a:t>
            </a:fld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/ </a:t>
            </a:r>
            <a:r>
              <a:rPr lang="en-US" altLang="ko-KR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23 </a:t>
            </a:r>
            <a:r>
              <a:rPr lang="ko-KR" altLang="en-US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页</a:t>
            </a:r>
            <a:endParaRPr spc="-5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65"/>
              </a:lnSpc>
            </a:pPr>
            <a:r>
              <a:rPr spc="-1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虾壳式关节仿生设计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299" y="249890"/>
            <a:ext cx="6921201" cy="464613"/>
          </a:xfrm>
          <a:prstGeom prst="rect">
            <a:avLst/>
          </a:prstGeom>
        </p:spPr>
        <p:txBody>
          <a:bodyPr vert="horz" wrap="square" lIns="0" tIns="63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6. 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 UI"/>
              </a:rPr>
              <a:t>我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们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 UI"/>
              </a:rPr>
              <a:t>的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虾壳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 UI"/>
              </a:rPr>
              <a:t>式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关节设计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 UI"/>
              </a:rPr>
              <a:t>：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CAD </a:t>
            </a:r>
            <a:r>
              <a:rPr spc="-25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 UI"/>
              </a:rPr>
              <a:t>展示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81700" y="991341"/>
            <a:ext cx="3149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虾壳式多段关节完整 </a:t>
            </a:r>
            <a:r>
              <a:rPr sz="1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CAD </a:t>
            </a:r>
            <a:r>
              <a:rPr sz="1800" b="1" spc="-25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 UI"/>
              </a:rPr>
              <a:t>模型</a:t>
            </a:r>
            <a:endParaRPr sz="180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998" y="952499"/>
            <a:ext cx="5232101" cy="460814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981700" y="1446071"/>
            <a:ext cx="59690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2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侧视图</a:t>
            </a:r>
            <a:endParaRPr sz="15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7999" y="5560650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5999" y="0"/>
                </a:lnTo>
              </a:path>
            </a:pathLst>
          </a:custGeom>
          <a:ln w="6350">
            <a:solidFill>
              <a:srgbClr val="AAAAAA"/>
            </a:solidFill>
          </a:ln>
        </p:spPr>
        <p:txBody>
          <a:bodyPr wrap="square" lIns="0" tIns="0" rIns="0" bIns="0" rtlCol="0"/>
          <a:lstStyle/>
          <a:p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9131300" y="5696032"/>
            <a:ext cx="925956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第 </a:t>
            </a:r>
            <a:fld id="{81D60167-4931-47E6-BA6A-407CBD079E47}" type="slidenum"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12</a:t>
            </a:fld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/ </a:t>
            </a:r>
            <a:r>
              <a:rPr lang="en-US" altLang="ko-KR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23 </a:t>
            </a:r>
            <a:r>
              <a:rPr lang="ko-KR" altLang="en-US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页</a:t>
            </a:r>
            <a:endParaRPr spc="-5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65"/>
              </a:lnSpc>
            </a:pPr>
            <a:r>
              <a:rPr spc="-1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虾壳式关节仿生设计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299" y="249890"/>
            <a:ext cx="6464001" cy="464613"/>
          </a:xfrm>
          <a:prstGeom prst="rect">
            <a:avLst/>
          </a:prstGeom>
        </p:spPr>
        <p:txBody>
          <a:bodyPr vert="horz" wrap="square" lIns="0" tIns="63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6. 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 UI"/>
              </a:rPr>
              <a:t>我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们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 UI"/>
              </a:rPr>
              <a:t>的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虾壳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 UI"/>
              </a:rPr>
              <a:t>式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关节设计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 UI"/>
              </a:rPr>
              <a:t>：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CAD </a:t>
            </a:r>
            <a:r>
              <a:rPr spc="-25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 UI"/>
              </a:rPr>
              <a:t>展示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94300" y="881288"/>
            <a:ext cx="3149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虾壳式多段关节完整 </a:t>
            </a:r>
            <a:r>
              <a:rPr sz="1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CAD </a:t>
            </a:r>
            <a:r>
              <a:rPr sz="1800" b="1" spc="-25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 UI"/>
              </a:rPr>
              <a:t>模型</a:t>
            </a:r>
            <a:endParaRPr sz="180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5299" y="869442"/>
            <a:ext cx="4412251" cy="453626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194300" y="1347793"/>
            <a:ext cx="59690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2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俯视图</a:t>
            </a:r>
            <a:endParaRPr sz="15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7999" y="5560650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5999" y="0"/>
                </a:lnTo>
              </a:path>
            </a:pathLst>
          </a:custGeom>
          <a:ln w="6350">
            <a:solidFill>
              <a:srgbClr val="AAAAAA"/>
            </a:solidFill>
          </a:ln>
        </p:spPr>
        <p:txBody>
          <a:bodyPr wrap="square" lIns="0" tIns="0" rIns="0" bIns="0" rtlCol="0"/>
          <a:lstStyle/>
          <a:p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9293986" y="5696032"/>
            <a:ext cx="929514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第 </a:t>
            </a:r>
            <a:fld id="{81D60167-4931-47E6-BA6A-407CBD079E47}" type="slidenum"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13</a:t>
            </a:fld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/ </a:t>
            </a:r>
            <a:r>
              <a:rPr lang="en-US" altLang="ko-KR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23 </a:t>
            </a:r>
            <a:r>
              <a:rPr lang="ko-KR" altLang="en-US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页</a:t>
            </a:r>
            <a:endParaRPr spc="-5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65"/>
              </a:lnSpc>
            </a:pPr>
            <a:r>
              <a:rPr spc="-1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虾壳式关节仿生设计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299" y="249890"/>
            <a:ext cx="6692601" cy="464613"/>
          </a:xfrm>
          <a:prstGeom prst="rect">
            <a:avLst/>
          </a:prstGeom>
        </p:spPr>
        <p:txBody>
          <a:bodyPr vert="horz" wrap="square" lIns="0" tIns="63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6. 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 UI"/>
              </a:rPr>
              <a:t>我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们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 UI"/>
              </a:rPr>
              <a:t>的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虾壳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 UI"/>
              </a:rPr>
              <a:t>式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关节设计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 UI"/>
              </a:rPr>
              <a:t>：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CAD </a:t>
            </a:r>
            <a:r>
              <a:rPr spc="-25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 UI"/>
              </a:rPr>
              <a:t>展示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98900" y="907370"/>
            <a:ext cx="3149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虾壳式多段关节完整 </a:t>
            </a:r>
            <a:r>
              <a:rPr sz="1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CAD </a:t>
            </a:r>
            <a:r>
              <a:rPr sz="1800" b="1" spc="-25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 UI"/>
              </a:rPr>
              <a:t>模型</a:t>
            </a:r>
            <a:endParaRPr sz="180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5299" y="869441"/>
            <a:ext cx="3149600" cy="457885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898900" y="1374023"/>
            <a:ext cx="59690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2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爆炸图</a:t>
            </a:r>
            <a:endParaRPr sz="15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7999" y="5560650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5999" y="0"/>
                </a:lnTo>
              </a:path>
            </a:pathLst>
          </a:custGeom>
          <a:ln w="6350">
            <a:solidFill>
              <a:srgbClr val="AAAAAA"/>
            </a:solidFill>
          </a:ln>
        </p:spPr>
        <p:txBody>
          <a:bodyPr wrap="square" lIns="0" tIns="0" rIns="0" bIns="0" rtlCol="0"/>
          <a:lstStyle/>
          <a:p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9293986" y="5696032"/>
            <a:ext cx="1081914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第 </a:t>
            </a:r>
            <a:fld id="{81D60167-4931-47E6-BA6A-407CBD079E47}" type="slidenum"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14</a:t>
            </a:fld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/ </a:t>
            </a:r>
            <a:r>
              <a:rPr lang="en-US" altLang="ko-KR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23 </a:t>
            </a:r>
            <a:r>
              <a:rPr lang="ko-KR" altLang="en-US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页</a:t>
            </a:r>
            <a:endParaRPr spc="-5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65"/>
              </a:lnSpc>
            </a:pPr>
            <a:r>
              <a:rPr spc="-1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虾壳式关节仿生设计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299" y="249890"/>
            <a:ext cx="6006801" cy="464613"/>
          </a:xfrm>
          <a:prstGeom prst="rect">
            <a:avLst/>
          </a:prstGeom>
        </p:spPr>
        <p:txBody>
          <a:bodyPr vert="horz" wrap="square" lIns="0" tIns="63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6. 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 UI"/>
              </a:rPr>
              <a:t>我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们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 UI"/>
              </a:rPr>
              <a:t>的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虾壳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 UI"/>
              </a:rPr>
              <a:t>式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关节设计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 UI"/>
              </a:rPr>
              <a:t>：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CAD </a:t>
            </a:r>
            <a:r>
              <a:rPr spc="-25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 UI"/>
              </a:rPr>
              <a:t>展示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5398" y="1091683"/>
            <a:ext cx="3149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虾壳式多段关节完整 </a:t>
            </a:r>
            <a:r>
              <a:rPr sz="1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CAD </a:t>
            </a:r>
            <a:r>
              <a:rPr sz="1800" b="1" spc="-25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 UI"/>
              </a:rPr>
              <a:t>模型</a:t>
            </a:r>
            <a:endParaRPr sz="180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 U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7999" y="5560650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5999" y="0"/>
                </a:lnTo>
              </a:path>
            </a:pathLst>
          </a:custGeom>
          <a:ln w="6350">
            <a:solidFill>
              <a:srgbClr val="AAAAAA"/>
            </a:solidFill>
          </a:ln>
        </p:spPr>
        <p:txBody>
          <a:bodyPr wrap="square" lIns="0" tIns="0" rIns="0" bIns="0" rtlCol="0"/>
          <a:lstStyle/>
          <a:p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9293986" y="5696032"/>
            <a:ext cx="1005714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第 </a:t>
            </a:r>
            <a:fld id="{81D60167-4931-47E6-BA6A-407CBD079E47}" type="slidenum"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15</a:t>
            </a:fld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/ </a:t>
            </a:r>
            <a:r>
              <a:rPr lang="en-US" altLang="ko-KR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23 </a:t>
            </a:r>
            <a:r>
              <a:rPr lang="ko-KR" altLang="en-US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页</a:t>
            </a:r>
            <a:endParaRPr spc="-5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65"/>
              </a:lnSpc>
            </a:pPr>
            <a:r>
              <a:rPr spc="-1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虾壳式关节仿生设计</a:t>
            </a:r>
          </a:p>
        </p:txBody>
      </p:sp>
      <p:pic>
        <p:nvPicPr>
          <p:cNvPr id="9" name="Untitled">
            <a:hlinkClick r:id="" action="ppaction://media"/>
            <a:extLst>
              <a:ext uri="{FF2B5EF4-FFF2-40B4-BE49-F238E27FC236}">
                <a16:creationId xmlns:a16="http://schemas.microsoft.com/office/drawing/2014/main" id="{058DE012-8DB8-22A6-D907-170FADE46D2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41300" y="1118714"/>
            <a:ext cx="7167562" cy="3882785"/>
          </a:xfrm>
          <a:prstGeom prst="rect">
            <a:avLst/>
          </a:prstGeom>
        </p:spPr>
      </p:pic>
      <p:sp>
        <p:nvSpPr>
          <p:cNvPr id="10" name="object 5">
            <a:extLst>
              <a:ext uri="{FF2B5EF4-FFF2-40B4-BE49-F238E27FC236}">
                <a16:creationId xmlns:a16="http://schemas.microsoft.com/office/drawing/2014/main" id="{9CB47A15-22AD-3F65-A7F6-6901811C4663}"/>
              </a:ext>
            </a:extLst>
          </p:cNvPr>
          <p:cNvSpPr txBox="1"/>
          <p:nvPr/>
        </p:nvSpPr>
        <p:spPr>
          <a:xfrm>
            <a:off x="7508551" y="1447467"/>
            <a:ext cx="59690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b="1" spc="-2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影片</a:t>
            </a:r>
            <a:endParaRPr sz="15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60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298" y="301071"/>
            <a:ext cx="3339801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/>
              </a:rPr>
              <a:t>7. </a:t>
            </a:r>
            <a:r>
              <a:rPr dirty="0"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 UI"/>
              </a:rPr>
              <a:t>研</a:t>
            </a:r>
            <a:r>
              <a:rPr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发</a:t>
            </a:r>
            <a:r>
              <a:rPr spc="-25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 UI"/>
              </a:rPr>
              <a:t>路径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899" y="1212424"/>
            <a:ext cx="7861001" cy="19236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研发路径与积累：</a:t>
            </a:r>
            <a:endParaRPr sz="160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  <a:p>
            <a:pPr marL="210820" indent="-172720">
              <a:lnSpc>
                <a:spcPct val="100000"/>
              </a:lnSpc>
              <a:spcBef>
                <a:spcPts val="1375"/>
              </a:spcBef>
              <a:buChar char="•"/>
              <a:tabLst>
                <a:tab pos="210820" algn="l"/>
              </a:tabLst>
            </a:pPr>
            <a:r>
              <a:rPr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2016–2025 </a:t>
            </a:r>
            <a:r>
              <a:rPr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年：</a:t>
            </a:r>
            <a:r>
              <a:rPr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V1 </a:t>
            </a:r>
            <a:r>
              <a:rPr sz="16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至 </a:t>
            </a:r>
            <a:r>
              <a:rPr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V5 </a:t>
            </a:r>
            <a:r>
              <a:rPr sz="1600" spc="-1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多个版本持续迭代</a:t>
            </a:r>
            <a:endParaRPr sz="160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  <a:p>
            <a:pPr marL="210820" indent="-172720">
              <a:lnSpc>
                <a:spcPct val="100000"/>
              </a:lnSpc>
              <a:spcBef>
                <a:spcPts val="1295"/>
              </a:spcBef>
              <a:buFont typeface="Times New Roman"/>
              <a:buChar char="•"/>
              <a:tabLst>
                <a:tab pos="210820" algn="l"/>
              </a:tabLst>
            </a:pPr>
            <a:r>
              <a:rPr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核心技术：</a:t>
            </a:r>
            <a:r>
              <a:rPr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Dyneema</a:t>
            </a:r>
            <a:r>
              <a:rPr sz="1600" spc="-35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 </a:t>
            </a:r>
            <a:r>
              <a:rPr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高强度腱缆、精密滑轮路由、</a:t>
            </a:r>
            <a:r>
              <a:rPr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PPO</a:t>
            </a:r>
            <a:r>
              <a:rPr sz="1600" spc="-3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 </a:t>
            </a:r>
            <a:r>
              <a:rPr sz="1600" spc="-5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强化学习及微操作分解</a:t>
            </a:r>
            <a:endParaRPr sz="160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  <a:p>
            <a:pPr marL="210820" indent="-172720">
              <a:lnSpc>
                <a:spcPct val="100000"/>
              </a:lnSpc>
              <a:spcBef>
                <a:spcPts val="1295"/>
              </a:spcBef>
              <a:buFont typeface="Times New Roman"/>
              <a:buChar char="•"/>
              <a:tabLst>
                <a:tab pos="210820" algn="l"/>
              </a:tabLst>
            </a:pPr>
            <a:r>
              <a:rPr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仿真验证：</a:t>
            </a:r>
            <a:r>
              <a:rPr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MuJoCo </a:t>
            </a:r>
            <a:r>
              <a:rPr sz="1600" spc="-5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平台多次完成关键物理动作验证</a:t>
            </a:r>
            <a:endParaRPr sz="160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  <a:p>
            <a:pPr marL="210820" indent="-172720">
              <a:lnSpc>
                <a:spcPct val="100000"/>
              </a:lnSpc>
              <a:spcBef>
                <a:spcPts val="1300"/>
              </a:spcBef>
              <a:buChar char="•"/>
              <a:tabLst>
                <a:tab pos="210820" algn="l"/>
              </a:tabLst>
            </a:pPr>
            <a:r>
              <a:rPr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2026 </a:t>
            </a:r>
            <a:r>
              <a:rPr sz="1600" spc="-6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年计划：完成 </a:t>
            </a:r>
            <a:r>
              <a:rPr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V6 </a:t>
            </a:r>
            <a:r>
              <a:rPr sz="1600" spc="-5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低成本实物原型并进行进一步灵巧化扩展</a:t>
            </a:r>
            <a:endParaRPr sz="160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7999" y="5560650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5999" y="0"/>
                </a:lnTo>
              </a:path>
            </a:pathLst>
          </a:custGeom>
          <a:ln w="6350">
            <a:solidFill>
              <a:srgbClr val="AAAA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9293986" y="5696032"/>
            <a:ext cx="1081914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第 </a:t>
            </a:r>
            <a:fld id="{81D60167-4931-47E6-BA6A-407CBD079E47}" type="slidenum"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16</a:t>
            </a:fld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/ </a:t>
            </a:r>
            <a:r>
              <a:rPr lang="en-US" altLang="ko-KR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23 </a:t>
            </a:r>
            <a:r>
              <a:rPr lang="ko-KR" altLang="en-US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页</a:t>
            </a:r>
            <a:endParaRPr spc="-5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65"/>
              </a:lnSpc>
            </a:pPr>
            <a:r>
              <a:rPr spc="-10" dirty="0"/>
              <a:t>虾壳式关节仿生设计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298" y="301071"/>
            <a:ext cx="3492201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8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. </a:t>
            </a:r>
            <a:r>
              <a:rPr spc="-1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风险与应对措施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2896949"/>
              </p:ext>
            </p:extLst>
          </p:nvPr>
        </p:nvGraphicFramePr>
        <p:xfrm>
          <a:off x="644824" y="1250396"/>
          <a:ext cx="9396095" cy="31413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29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5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81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6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b="1" spc="-15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</a:rPr>
                        <a:t>风险名称</a:t>
                      </a:r>
                      <a:endParaRPr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</a:endParaRPr>
                    </a:p>
                  </a:txBody>
                  <a:tcPr marL="0" marR="0" marT="3492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b="1" spc="-15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</a:rPr>
                        <a:t>风险描述</a:t>
                      </a:r>
                      <a:endParaRPr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</a:endParaRPr>
                    </a:p>
                  </a:txBody>
                  <a:tcPr marL="0" marR="0" marT="3492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b="1" spc="-15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 UI"/>
                        </a:rPr>
                        <a:t>解决方案</a:t>
                      </a:r>
                      <a:endParaRPr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 UI"/>
                      </a:endParaRPr>
                    </a:p>
                  </a:txBody>
                  <a:tcPr marL="0" marR="0" marT="317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993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15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技术风险</a:t>
                      </a:r>
                      <a:endParaRPr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SimSun"/>
                      </a:endParaRPr>
                    </a:p>
                  </a:txBody>
                  <a:tcPr marL="0" marR="0" marT="3492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5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腱缆长期磨损、弹簧回程间隙</a:t>
                      </a:r>
                      <a:endParaRPr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SimSun"/>
                      </a:endParaRPr>
                    </a:p>
                  </a:txBody>
                  <a:tcPr marL="0" marR="0" marT="3492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4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选用高强度低摩擦</a:t>
                      </a:r>
                      <a:r>
                        <a:rPr sz="1600" spc="-1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Dyneema</a:t>
                      </a:r>
                      <a:r>
                        <a:rPr sz="1600" spc="-7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 </a:t>
                      </a:r>
                      <a:r>
                        <a:rPr sz="1600" spc="-8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纤维，进行加速</a:t>
                      </a:r>
                      <a:r>
                        <a:rPr sz="1600" spc="-5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寿命测试，并开发自适应张力补偿算法</a:t>
                      </a:r>
                      <a:endParaRPr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SimSun"/>
                      </a:endParaRPr>
                    </a:p>
                  </a:txBody>
                  <a:tcPr marL="0" marR="0" marT="3492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993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1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制造成本风险</a:t>
                      </a:r>
                      <a:endParaRPr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SimSun"/>
                      </a:endParaRPr>
                    </a:p>
                  </a:txBody>
                  <a:tcPr marL="0" marR="0" marT="3492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1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量产时成本超出预期</a:t>
                      </a:r>
                      <a:endParaRPr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SimSun"/>
                      </a:endParaRPr>
                    </a:p>
                  </a:txBody>
                  <a:tcPr marL="0" marR="0" marT="3492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1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采用欠驱动设计减少电机数量，优化供应链</a:t>
                      </a:r>
                      <a:endParaRPr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SimSu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  <a:spcBef>
                          <a:spcPts val="1295"/>
                        </a:spcBef>
                      </a:pPr>
                      <a:r>
                        <a:rPr sz="1600" spc="-1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并批量采购</a:t>
                      </a:r>
                      <a:endParaRPr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SimSun"/>
                      </a:endParaRPr>
                    </a:p>
                  </a:txBody>
                  <a:tcPr marL="0" marR="0" marT="3492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993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1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市场接受风险</a:t>
                      </a:r>
                      <a:endParaRPr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SimSun"/>
                      </a:endParaRPr>
                    </a:p>
                  </a:txBody>
                  <a:tcPr marL="0" marR="0" marT="3492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5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整机厂商对新方案接受度低</a:t>
                      </a:r>
                      <a:endParaRPr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SimSun"/>
                      </a:endParaRPr>
                    </a:p>
                  </a:txBody>
                  <a:tcPr marL="0" marR="0" marT="3492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提供开源代码与 </a:t>
                      </a:r>
                      <a:r>
                        <a:rPr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MuJoCo</a:t>
                      </a:r>
                      <a:r>
                        <a:rPr sz="1600" spc="15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仿真模型，推出小</a:t>
                      </a:r>
                      <a:endParaRPr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SimSu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  <a:spcBef>
                          <a:spcPts val="1295"/>
                        </a:spcBef>
                      </a:pPr>
                      <a:r>
                        <a:rPr sz="1600" spc="-5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批量验证套件逐步建立案例</a:t>
                      </a:r>
                      <a:endParaRPr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SimSun"/>
                      </a:endParaRPr>
                    </a:p>
                  </a:txBody>
                  <a:tcPr marL="0" marR="0" marT="3492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993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1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供应链风险</a:t>
                      </a:r>
                      <a:endParaRPr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SimSun"/>
                      </a:endParaRPr>
                    </a:p>
                  </a:txBody>
                  <a:tcPr marL="0" marR="0" marT="3492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1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关键材料供应不稳定</a:t>
                      </a:r>
                      <a:endParaRPr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SimSun"/>
                      </a:endParaRPr>
                    </a:p>
                  </a:txBody>
                  <a:tcPr marL="0" marR="0" marT="3492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15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开发替代材料方案，并与多家供应商建立战</a:t>
                      </a:r>
                      <a:endParaRPr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SimSu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  <a:spcBef>
                          <a:spcPts val="1295"/>
                        </a:spcBef>
                      </a:pPr>
                      <a:r>
                        <a:rPr sz="1600" spc="-2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略合作</a:t>
                      </a:r>
                      <a:endParaRPr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SimSun"/>
                      </a:endParaRPr>
                    </a:p>
                  </a:txBody>
                  <a:tcPr marL="0" marR="0" marT="3492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647999" y="5560650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5999" y="0"/>
                </a:lnTo>
              </a:path>
            </a:pathLst>
          </a:custGeom>
          <a:ln w="6350">
            <a:solidFill>
              <a:srgbClr val="AAAAAA"/>
            </a:solidFill>
          </a:ln>
        </p:spPr>
        <p:txBody>
          <a:bodyPr wrap="square" lIns="0" tIns="0" rIns="0" bIns="0" rtlCol="0"/>
          <a:lstStyle/>
          <a:p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9293986" y="5696032"/>
            <a:ext cx="1081914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第 </a:t>
            </a:r>
            <a:fld id="{81D60167-4931-47E6-BA6A-407CBD079E47}" type="slidenum"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17</a:t>
            </a:fld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/ </a:t>
            </a:r>
            <a:r>
              <a:rPr lang="en-US" altLang="ko-KR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23 </a:t>
            </a:r>
            <a:r>
              <a:rPr lang="ko-KR" altLang="en-US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页</a:t>
            </a:r>
            <a:endParaRPr spc="-5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65"/>
              </a:lnSpc>
            </a:pPr>
            <a:r>
              <a:rPr spc="-1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虾壳式关节仿生设计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298" y="301071"/>
            <a:ext cx="3111201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9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.</a:t>
            </a:r>
            <a:r>
              <a:rPr spc="-145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 </a:t>
            </a:r>
            <a:r>
              <a:rPr dirty="0">
                <a:latin typeface="Microsoft JhengHei UI"/>
                <a:cs typeface="Microsoft JhengHei UI"/>
              </a:rPr>
              <a:t>核心</a:t>
            </a:r>
            <a:r>
              <a:rPr spc="-15" dirty="0"/>
              <a:t>团队优势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5636717"/>
              </p:ext>
            </p:extLst>
          </p:nvPr>
        </p:nvGraphicFramePr>
        <p:xfrm>
          <a:off x="644824" y="1250396"/>
          <a:ext cx="9396095" cy="17474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29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5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81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019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5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 UI"/>
                        </a:rPr>
                        <a:t>成</a:t>
                      </a:r>
                      <a:r>
                        <a:rPr sz="1500" b="1" spc="-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</a:rPr>
                        <a:t>员</a:t>
                      </a:r>
                      <a:endParaRPr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</a:endParaRPr>
                    </a:p>
                  </a:txBody>
                  <a:tcPr marL="0" marR="0" marT="36830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500" b="1" spc="-25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 UI"/>
                        </a:rPr>
                        <a:t>角色</a:t>
                      </a:r>
                      <a:endParaRPr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 UI"/>
                      </a:endParaRPr>
                    </a:p>
                  </a:txBody>
                  <a:tcPr marL="0" marR="0" marT="698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500" b="1" spc="-25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 UI"/>
                        </a:rPr>
                        <a:t>描述</a:t>
                      </a:r>
                      <a:endParaRPr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 UI"/>
                      </a:endParaRPr>
                    </a:p>
                  </a:txBody>
                  <a:tcPr marL="0" marR="0" marT="6985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509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</a:pPr>
                      <a:r>
                        <a:rPr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Patrick </a:t>
                      </a:r>
                      <a:r>
                        <a:rPr sz="1500" spc="-25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Lee</a:t>
                      </a:r>
                      <a:endParaRPr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500" spc="-15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项目管理</a:t>
                      </a:r>
                      <a:endParaRPr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SimSun"/>
                      </a:endParaRPr>
                    </a:p>
                  </a:txBody>
                  <a:tcPr marL="0" marR="0" marT="36830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500" spc="-125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拥有 </a:t>
                      </a:r>
                      <a:r>
                        <a:rPr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30 </a:t>
                      </a:r>
                      <a:r>
                        <a:rPr sz="1500" spc="-55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年海外及国内 </a:t>
                      </a:r>
                      <a:r>
                        <a:rPr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IT/AI </a:t>
                      </a:r>
                      <a:r>
                        <a:rPr sz="1500" spc="-1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项目管理经验</a:t>
                      </a:r>
                      <a:endParaRPr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SimSun"/>
                      </a:endParaRPr>
                    </a:p>
                  </a:txBody>
                  <a:tcPr marL="0" marR="0" marT="36830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63500">
                        <a:lnSpc>
                          <a:spcPts val="1795"/>
                        </a:lnSpc>
                      </a:pPr>
                      <a:r>
                        <a:rPr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Sam </a:t>
                      </a:r>
                      <a:r>
                        <a:rPr sz="1500" spc="-25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Lau</a:t>
                      </a:r>
                      <a:endParaRPr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500" spc="-15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系统开发</a:t>
                      </a:r>
                      <a:endParaRPr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SimSun"/>
                      </a:endParaRPr>
                    </a:p>
                  </a:txBody>
                  <a:tcPr marL="0" marR="0" marT="36830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500" spc="-35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年轻且富有创意的开源 </a:t>
                      </a:r>
                      <a:r>
                        <a:rPr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IT/AI </a:t>
                      </a:r>
                      <a:r>
                        <a:rPr sz="1500" spc="-1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系统开发者</a:t>
                      </a:r>
                      <a:endParaRPr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SimSun"/>
                      </a:endParaRPr>
                    </a:p>
                  </a:txBody>
                  <a:tcPr marL="0" marR="0" marT="36830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3735">
                <a:tc>
                  <a:txBody>
                    <a:bodyPr/>
                    <a:lstStyle/>
                    <a:p>
                      <a:pPr marL="63500">
                        <a:lnSpc>
                          <a:spcPts val="1795"/>
                        </a:lnSpc>
                      </a:pPr>
                      <a:r>
                        <a:rPr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Carson</a:t>
                      </a:r>
                      <a:r>
                        <a:rPr sz="1500" spc="-75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 </a:t>
                      </a:r>
                      <a:r>
                        <a:rPr sz="1500" spc="-25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Wu</a:t>
                      </a:r>
                      <a:endParaRPr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500" spc="-15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技术设计</a:t>
                      </a:r>
                      <a:endParaRPr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SimSun"/>
                      </a:endParaRPr>
                    </a:p>
                  </a:txBody>
                  <a:tcPr marL="0" marR="0" marT="36830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500" spc="-225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自 </a:t>
                      </a:r>
                      <a:r>
                        <a:rPr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12</a:t>
                      </a:r>
                      <a:r>
                        <a:rPr sz="1500" spc="-7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 </a:t>
                      </a:r>
                      <a:r>
                        <a:rPr sz="1500" spc="-3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岁起开始钻研机械人设计，专注低成本人</a:t>
                      </a:r>
                      <a:endParaRPr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SimSu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  <a:spcBef>
                          <a:spcPts val="1215"/>
                        </a:spcBef>
                      </a:pPr>
                      <a:r>
                        <a:rPr sz="1500" spc="-1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SimSun"/>
                        </a:rPr>
                        <a:t>形机械人研发与迭代</a:t>
                      </a:r>
                      <a:endParaRPr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SimSun"/>
                      </a:endParaRPr>
                    </a:p>
                  </a:txBody>
                  <a:tcPr marL="0" marR="0" marT="36830" marB="0">
                    <a:lnL w="6350">
                      <a:solidFill>
                        <a:srgbClr val="AAAAAA"/>
                      </a:solidFill>
                      <a:prstDash val="solid"/>
                    </a:lnL>
                    <a:lnR w="6350">
                      <a:solidFill>
                        <a:srgbClr val="AAAAAA"/>
                      </a:solidFill>
                      <a:prstDash val="solid"/>
                    </a:lnR>
                    <a:lnT w="6350">
                      <a:solidFill>
                        <a:srgbClr val="AAAAAA"/>
                      </a:solidFill>
                      <a:prstDash val="solid"/>
                    </a:lnT>
                    <a:lnB w="6350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647999" y="5560650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5999" y="0"/>
                </a:lnTo>
              </a:path>
            </a:pathLst>
          </a:custGeom>
          <a:ln w="6350">
            <a:solidFill>
              <a:srgbClr val="AAAA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9293986" y="5696032"/>
            <a:ext cx="1081914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第 </a:t>
            </a:r>
            <a:fld id="{81D60167-4931-47E6-BA6A-407CBD079E47}" type="slidenum"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18</a:t>
            </a:fld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/ </a:t>
            </a:r>
            <a:r>
              <a:rPr lang="en-US" altLang="ko-KR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23 </a:t>
            </a:r>
            <a:r>
              <a:rPr lang="ko-KR" altLang="en-US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页</a:t>
            </a:r>
            <a:endParaRPr spc="-5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635299" y="5715590"/>
            <a:ext cx="1818192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65"/>
              </a:lnSpc>
            </a:pPr>
            <a:r>
              <a:rPr spc="-1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虾壳式关节仿生设计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298" y="301071"/>
            <a:ext cx="3492201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latin typeface="Microsoft JhengHei UI"/>
                <a:cs typeface="Microsoft JhengHei UI"/>
              </a:rPr>
              <a:t>10-1. </a:t>
            </a:r>
            <a:r>
              <a:rPr dirty="0" err="1">
                <a:latin typeface="Microsoft JhengHei UI"/>
                <a:cs typeface="Microsoft JhengHei UI"/>
              </a:rPr>
              <a:t>本</a:t>
            </a:r>
            <a:r>
              <a:rPr dirty="0" err="1"/>
              <a:t>设计应</a:t>
            </a:r>
            <a:r>
              <a:rPr dirty="0" err="1">
                <a:latin typeface="Microsoft JhengHei UI"/>
                <a:cs typeface="Microsoft JhengHei UI"/>
              </a:rPr>
              <a:t>用</a:t>
            </a:r>
            <a:r>
              <a:rPr dirty="0" err="1"/>
              <a:t>场</a:t>
            </a:r>
            <a:r>
              <a:rPr spc="-50" dirty="0" err="1">
                <a:latin typeface="Microsoft JhengHei UI"/>
                <a:cs typeface="Microsoft JhengHei UI"/>
              </a:rPr>
              <a:t>景</a:t>
            </a:r>
            <a:endParaRPr spc="-50" dirty="0">
              <a:latin typeface="Microsoft JhengHei UI"/>
              <a:cs typeface="Microsoft JhengHei U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9899" y="1212424"/>
            <a:ext cx="6375400" cy="2321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虾壳式关节具有高灵活性、低成本和大范围运动能力，可广泛应用于：</a:t>
            </a:r>
            <a:endParaRPr sz="160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  <a:p>
            <a:pPr marL="210820" indent="-172720">
              <a:lnSpc>
                <a:spcPct val="100000"/>
              </a:lnSpc>
              <a:spcBef>
                <a:spcPts val="1375"/>
              </a:spcBef>
              <a:buFont typeface="Times New Roman"/>
              <a:buChar char="•"/>
              <a:tabLst>
                <a:tab pos="210820" algn="l"/>
              </a:tabLst>
            </a:pPr>
            <a:r>
              <a:rPr sz="1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 UI"/>
              </a:rPr>
              <a:t>人形机械人</a:t>
            </a:r>
            <a:r>
              <a:rPr sz="1600" spc="-5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：舞蹈表演、娱乐互动、服务机械人</a:t>
            </a:r>
            <a:endParaRPr sz="160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  <a:p>
            <a:pPr marL="210820" indent="-172720">
              <a:lnSpc>
                <a:spcPct val="100000"/>
              </a:lnSpc>
              <a:spcBef>
                <a:spcPts val="1295"/>
              </a:spcBef>
              <a:buFont typeface="Times New Roman"/>
              <a:buChar char="•"/>
              <a:tabLst>
                <a:tab pos="210820" algn="l"/>
              </a:tabLst>
            </a:pPr>
            <a:r>
              <a:rPr sz="1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 UI"/>
              </a:rPr>
              <a:t>康</a:t>
            </a:r>
            <a:r>
              <a:rPr sz="1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复</a:t>
            </a:r>
            <a:r>
              <a:rPr sz="1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 UI"/>
              </a:rPr>
              <a:t>医</a:t>
            </a:r>
            <a:r>
              <a:rPr sz="1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疗</a:t>
            </a:r>
            <a:r>
              <a:rPr sz="1600" spc="-5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：外骨骼康复设备、辅助行走系统</a:t>
            </a:r>
            <a:endParaRPr sz="160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  <a:p>
            <a:pPr marL="210820" indent="-172720">
              <a:lnSpc>
                <a:spcPct val="100000"/>
              </a:lnSpc>
              <a:spcBef>
                <a:spcPts val="1295"/>
              </a:spcBef>
              <a:buFont typeface="Times New Roman"/>
              <a:buChar char="•"/>
              <a:tabLst>
                <a:tab pos="210820" algn="l"/>
              </a:tabLst>
            </a:pPr>
            <a:r>
              <a:rPr sz="1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 UI"/>
              </a:rPr>
              <a:t>工</a:t>
            </a:r>
            <a:r>
              <a:rPr sz="1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业</a:t>
            </a:r>
            <a:r>
              <a:rPr sz="1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 UI"/>
              </a:rPr>
              <a:t>制造</a:t>
            </a:r>
            <a:r>
              <a:rPr sz="1600" spc="-5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：柔性装配臂、协作机械人</a:t>
            </a:r>
            <a:endParaRPr sz="160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  <a:p>
            <a:pPr marL="210820" indent="-172720">
              <a:lnSpc>
                <a:spcPct val="100000"/>
              </a:lnSpc>
              <a:spcBef>
                <a:spcPts val="1300"/>
              </a:spcBef>
              <a:buFont typeface="Times New Roman"/>
              <a:buChar char="•"/>
              <a:tabLst>
                <a:tab pos="210820" algn="l"/>
              </a:tabLst>
            </a:pPr>
            <a:r>
              <a:rPr sz="1600" b="1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 UI"/>
              </a:rPr>
              <a:t>教育与研究</a:t>
            </a:r>
            <a:r>
              <a:rPr sz="16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：开源机械人平台、</a:t>
            </a:r>
            <a:r>
              <a:rPr sz="16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STEM</a:t>
            </a:r>
            <a:r>
              <a:rPr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 </a:t>
            </a:r>
            <a:r>
              <a:rPr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教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育</a:t>
            </a:r>
            <a:r>
              <a:rPr sz="1600" spc="-25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套件</a:t>
            </a:r>
            <a:endParaRPr sz="160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  <a:p>
            <a:pPr marL="210820" indent="-172720">
              <a:lnSpc>
                <a:spcPct val="100000"/>
              </a:lnSpc>
              <a:spcBef>
                <a:spcPts val="1295"/>
              </a:spcBef>
              <a:buFont typeface="Times New Roman"/>
              <a:buChar char="•"/>
              <a:tabLst>
                <a:tab pos="210820" algn="l"/>
              </a:tabLst>
            </a:pPr>
            <a:r>
              <a:rPr sz="1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 UI"/>
              </a:rPr>
              <a:t>特</a:t>
            </a:r>
            <a:r>
              <a:rPr sz="1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种领</a:t>
            </a:r>
            <a:r>
              <a:rPr sz="1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 UI"/>
              </a:rPr>
              <a:t>域</a:t>
            </a:r>
            <a:r>
              <a:rPr sz="1600" spc="-1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：救援机械人</a:t>
            </a:r>
            <a:endParaRPr sz="160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7999" y="5560650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5999" y="0"/>
                </a:lnTo>
              </a:path>
            </a:pathLst>
          </a:custGeom>
          <a:ln w="6350">
            <a:solidFill>
              <a:srgbClr val="AAAA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9293986" y="5696032"/>
            <a:ext cx="1234314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第 </a:t>
            </a:r>
            <a:fld id="{81D60167-4931-47E6-BA6A-407CBD079E47}" type="slidenum"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19</a:t>
            </a:fld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/ </a:t>
            </a:r>
            <a:r>
              <a:rPr lang="en-US" altLang="ko-KR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23 </a:t>
            </a:r>
            <a:r>
              <a:rPr lang="ko-KR" altLang="en-US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页</a:t>
            </a:r>
            <a:endParaRPr spc="-5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635298" y="5715590"/>
            <a:ext cx="2074305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65"/>
              </a:lnSpc>
            </a:pPr>
            <a:r>
              <a:rPr spc="-1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虾壳式关节仿生设计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298" y="301071"/>
            <a:ext cx="3568401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latin typeface="Microsoft JhengHei UI"/>
                <a:cs typeface="Microsoft JhengHei UI"/>
              </a:rPr>
              <a:t>10-2. </a:t>
            </a:r>
            <a:r>
              <a:rPr dirty="0" err="1">
                <a:latin typeface="Microsoft JhengHei UI"/>
                <a:cs typeface="Microsoft JhengHei UI"/>
              </a:rPr>
              <a:t>市</a:t>
            </a:r>
            <a:r>
              <a:rPr dirty="0" err="1"/>
              <a:t>场运</a:t>
            </a:r>
            <a:r>
              <a:rPr spc="-20" dirty="0" err="1">
                <a:latin typeface="Microsoft JhengHei UI"/>
                <a:cs typeface="Microsoft JhengHei UI"/>
              </a:rPr>
              <a:t>作策略</a:t>
            </a:r>
            <a:endParaRPr spc="-20" dirty="0">
              <a:latin typeface="Microsoft JhengHei UI"/>
              <a:cs typeface="Microsoft JhengHei U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9899" y="1212424"/>
            <a:ext cx="5575001" cy="1913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我们将采取以下策略将技术优势转化为市场价值：</a:t>
            </a:r>
            <a:endParaRPr sz="160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  <a:p>
            <a:pPr marL="210820" indent="-172720">
              <a:lnSpc>
                <a:spcPct val="100000"/>
              </a:lnSpc>
              <a:spcBef>
                <a:spcPts val="1375"/>
              </a:spcBef>
              <a:buFont typeface="Times New Roman"/>
              <a:buChar char="•"/>
              <a:tabLst>
                <a:tab pos="210820" algn="l"/>
              </a:tabLst>
            </a:pPr>
            <a:r>
              <a:rPr sz="1600" spc="-5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模块化销售及开放源代码，快速获取早期用户</a:t>
            </a:r>
            <a:endParaRPr sz="160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  <a:p>
            <a:pPr marL="210820" indent="-172720">
              <a:lnSpc>
                <a:spcPct val="100000"/>
              </a:lnSpc>
              <a:spcBef>
                <a:spcPts val="1295"/>
              </a:spcBef>
              <a:buFont typeface="Times New Roman"/>
              <a:buChar char="•"/>
              <a:tabLst>
                <a:tab pos="210820" algn="l"/>
              </a:tabLst>
            </a:pPr>
            <a:r>
              <a:rPr sz="1600" spc="-5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与人形机械人整机厂商进行深度集成合作</a:t>
            </a:r>
            <a:endParaRPr sz="160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  <a:p>
            <a:pPr marL="210820" indent="-172720">
              <a:lnSpc>
                <a:spcPct val="100000"/>
              </a:lnSpc>
              <a:spcBef>
                <a:spcPts val="1295"/>
              </a:spcBef>
              <a:buFont typeface="Times New Roman"/>
              <a:buChar char="•"/>
              <a:tabLst>
                <a:tab pos="210820" algn="l"/>
              </a:tabLst>
            </a:pPr>
            <a:r>
              <a:rPr sz="16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针对康复医疗、教育及娱乐领域推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出</a:t>
            </a:r>
            <a:r>
              <a:rPr sz="1600" spc="-1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定制解决方案</a:t>
            </a:r>
            <a:endParaRPr sz="160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  <a:p>
            <a:pPr marL="210820" indent="-172720">
              <a:lnSpc>
                <a:spcPct val="100000"/>
              </a:lnSpc>
              <a:spcBef>
                <a:spcPts val="1300"/>
              </a:spcBef>
              <a:buFont typeface="Times New Roman"/>
              <a:buChar char="•"/>
              <a:tabLst>
                <a:tab pos="210820" algn="l"/>
              </a:tabLst>
            </a:pPr>
            <a:r>
              <a:rPr sz="1600" spc="-5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通过演示视频、开源社区及行业展会建立品牌认知</a:t>
            </a:r>
            <a:endParaRPr sz="160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7999" y="5560650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5999" y="0"/>
                </a:lnTo>
              </a:path>
            </a:pathLst>
          </a:custGeom>
          <a:ln w="6350">
            <a:solidFill>
              <a:srgbClr val="AAAA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9293986" y="5696032"/>
            <a:ext cx="1081914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第 </a:t>
            </a:r>
            <a:fld id="{81D60167-4931-47E6-BA6A-407CBD079E47}" type="slidenum"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</a:t>
            </a:fld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/ </a:t>
            </a:r>
            <a:r>
              <a:rPr lang="en-US" altLang="ko-KR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23 </a:t>
            </a:r>
            <a:r>
              <a:rPr lang="ko-KR" altLang="en-US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页</a:t>
            </a:r>
            <a:endParaRPr spc="-5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635299" y="5715590"/>
            <a:ext cx="1818192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65"/>
              </a:lnSpc>
            </a:pPr>
            <a:r>
              <a:rPr spc="-1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虾壳式关节仿生设计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7999" y="695661"/>
            <a:ext cx="9396095" cy="38100"/>
          </a:xfrm>
          <a:custGeom>
            <a:avLst/>
            <a:gdLst/>
            <a:ahLst/>
            <a:cxnLst/>
            <a:rect l="l" t="t" r="r" b="b"/>
            <a:pathLst>
              <a:path w="9396095" h="38100">
                <a:moveTo>
                  <a:pt x="9395999" y="0"/>
                </a:moveTo>
                <a:lnTo>
                  <a:pt x="9395999" y="38099"/>
                </a:lnTo>
                <a:lnTo>
                  <a:pt x="0" y="38099"/>
                </a:lnTo>
                <a:lnTo>
                  <a:pt x="0" y="0"/>
                </a:lnTo>
                <a:lnTo>
                  <a:pt x="9395999" y="0"/>
                </a:lnTo>
                <a:close/>
              </a:path>
            </a:pathLst>
          </a:custGeom>
          <a:solidFill>
            <a:srgbClr val="0055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35298" y="249890"/>
            <a:ext cx="3111201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5" dirty="0">
                <a:latin typeface="Microsoft JhengHei UI"/>
                <a:cs typeface="Microsoft JhengHei UI"/>
              </a:rPr>
              <a:t>10-3. </a:t>
            </a:r>
            <a:r>
              <a:rPr spc="-15" dirty="0" err="1">
                <a:latin typeface="Microsoft JhengHei UI"/>
                <a:cs typeface="Microsoft JhengHei UI"/>
              </a:rPr>
              <a:t>盈利模式</a:t>
            </a:r>
            <a:endParaRPr spc="-15" dirty="0">
              <a:latin typeface="Microsoft JhengHei UI"/>
              <a:cs typeface="Microsoft JhengHei U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多层次可持续盈利模式：</a:t>
            </a:r>
          </a:p>
          <a:p>
            <a:pPr marL="210820" indent="-172720">
              <a:lnSpc>
                <a:spcPct val="100000"/>
              </a:lnSpc>
              <a:spcBef>
                <a:spcPts val="1375"/>
              </a:spcBef>
              <a:buFont typeface="Times New Roman"/>
              <a:buChar char="•"/>
              <a:tabLst>
                <a:tab pos="210820" algn="l"/>
              </a:tabLst>
            </a:pPr>
            <a:r>
              <a:rPr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核心硬件模块销售（关节组件与腰部系统</a:t>
            </a:r>
            <a:r>
              <a:rPr sz="1600" spc="-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10820" indent="-172720">
              <a:lnSpc>
                <a:spcPct val="100000"/>
              </a:lnSpc>
              <a:spcBef>
                <a:spcPts val="1295"/>
              </a:spcBef>
              <a:buFont typeface="Times New Roman"/>
              <a:buChar char="•"/>
              <a:tabLst>
                <a:tab pos="210820" algn="l"/>
              </a:tabLst>
            </a:pPr>
            <a:r>
              <a:rPr sz="1600" spc="-5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技术授权与知识产权许可</a:t>
            </a:r>
            <a:endParaRPr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10820" indent="-172720">
              <a:lnSpc>
                <a:spcPct val="100000"/>
              </a:lnSpc>
              <a:spcBef>
                <a:spcPts val="1295"/>
              </a:spcBef>
              <a:buFont typeface="Times New Roman"/>
              <a:buChar char="•"/>
              <a:tabLst>
                <a:tab pos="210820" algn="l"/>
              </a:tabLst>
            </a:pPr>
            <a:r>
              <a:rPr sz="1600" spc="-5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定制开发与系统集成服务</a:t>
            </a:r>
            <a:endParaRPr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10820" indent="-172720">
              <a:lnSpc>
                <a:spcPct val="100000"/>
              </a:lnSpc>
              <a:spcBef>
                <a:spcPts val="1295"/>
              </a:spcBef>
              <a:buFont typeface="Times New Roman"/>
              <a:buChar char="•"/>
              <a:tabLst>
                <a:tab pos="210820" algn="l"/>
              </a:tabLst>
            </a:pPr>
            <a:r>
              <a:rPr sz="1600" spc="-5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未来开源社区增值服务及应用订阅</a:t>
            </a:r>
            <a:endParaRPr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8100">
              <a:lnSpc>
                <a:spcPct val="100000"/>
              </a:lnSpc>
              <a:spcBef>
                <a:spcPts val="1380"/>
              </a:spcBef>
            </a:pP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预计随人形机械人市场爆发，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3–5 </a:t>
            </a:r>
            <a:r>
              <a:rPr spc="-5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年内可实现规模化盈利。</a:t>
            </a:r>
          </a:p>
        </p:txBody>
      </p:sp>
      <p:sp>
        <p:nvSpPr>
          <p:cNvPr id="5" name="object 5"/>
          <p:cNvSpPr/>
          <p:nvPr/>
        </p:nvSpPr>
        <p:spPr>
          <a:xfrm>
            <a:off x="647999" y="5560650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5999" y="0"/>
                </a:lnTo>
              </a:path>
            </a:pathLst>
          </a:custGeom>
          <a:ln w="6350">
            <a:solidFill>
              <a:srgbClr val="AAAA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9293986" y="5696032"/>
            <a:ext cx="929514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第 </a:t>
            </a:r>
            <a:fld id="{81D60167-4931-47E6-BA6A-407CBD079E47}" type="slidenum"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21</a:t>
            </a:fld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/ </a:t>
            </a:r>
            <a:r>
              <a:rPr lang="en-US" altLang="ko-KR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23 </a:t>
            </a:r>
            <a:r>
              <a:rPr lang="ko-KR" altLang="en-US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页</a:t>
            </a:r>
            <a:endParaRPr spc="-5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635299" y="5715590"/>
            <a:ext cx="1562078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65"/>
              </a:lnSpc>
            </a:pPr>
            <a:r>
              <a:rPr spc="-1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虾壳式关节仿生设计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298" y="301071"/>
            <a:ext cx="3492201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1</a:t>
            </a:r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0-4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. </a:t>
            </a:r>
            <a:r>
              <a:rPr spc="-15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项目需求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899" y="1212424"/>
            <a:ext cx="9472295" cy="2331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项目需求</a:t>
            </a:r>
            <a:r>
              <a:rPr sz="1600" spc="-5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：</a:t>
            </a:r>
            <a:endParaRPr sz="160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  <a:p>
            <a:pPr marL="210820" indent="-172720">
              <a:lnSpc>
                <a:spcPct val="100000"/>
              </a:lnSpc>
              <a:spcBef>
                <a:spcPts val="1375"/>
              </a:spcBef>
              <a:buFont typeface="Times New Roman"/>
              <a:buChar char="•"/>
              <a:tabLst>
                <a:tab pos="210820" algn="l"/>
              </a:tabLst>
            </a:pPr>
            <a:r>
              <a:rPr sz="1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 UI"/>
              </a:rPr>
              <a:t>集</a:t>
            </a:r>
            <a:r>
              <a:rPr sz="1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资</a:t>
            </a:r>
            <a:r>
              <a:rPr sz="1600" spc="-3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：寻求战略投资或众筹，支持 </a:t>
            </a:r>
            <a:r>
              <a:rPr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V6 </a:t>
            </a:r>
            <a:r>
              <a:rPr sz="1600" spc="-5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实物原型开发与小批量生产</a:t>
            </a:r>
            <a:endParaRPr sz="160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  <a:p>
            <a:pPr marL="210820" indent="-172720">
              <a:lnSpc>
                <a:spcPct val="100000"/>
              </a:lnSpc>
              <a:spcBef>
                <a:spcPts val="1295"/>
              </a:spcBef>
              <a:buFont typeface="Times New Roman"/>
              <a:buChar char="•"/>
              <a:tabLst>
                <a:tab pos="210820" algn="l"/>
              </a:tabLst>
            </a:pPr>
            <a:r>
              <a:rPr sz="1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对接大学研究团队</a:t>
            </a:r>
            <a:r>
              <a:rPr sz="1600" spc="-5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：与香港及内地高校机械人实验室合作，进行联合研发与技术验证</a:t>
            </a:r>
            <a:endParaRPr sz="160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  <a:p>
            <a:pPr marL="210820" indent="-172720">
              <a:lnSpc>
                <a:spcPct val="100000"/>
              </a:lnSpc>
              <a:spcBef>
                <a:spcPts val="1295"/>
              </a:spcBef>
              <a:buFont typeface="Times New Roman"/>
              <a:buChar char="•"/>
              <a:tabLst>
                <a:tab pos="210820" algn="l"/>
              </a:tabLst>
            </a:pPr>
            <a:r>
              <a:rPr sz="1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专利申请</a:t>
            </a:r>
            <a:r>
              <a:rPr sz="1600" spc="-2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：尽快申请核心技术专利</a:t>
            </a:r>
            <a:r>
              <a:rPr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（</a:t>
            </a:r>
            <a:r>
              <a:rPr sz="1600" spc="-1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虾壳式多段关节结构、反向共轭面设计、欠驱动控制方法等</a:t>
            </a:r>
            <a:r>
              <a:rPr sz="1600" spc="-80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）</a:t>
            </a:r>
            <a:r>
              <a:rPr sz="1600" spc="-3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，保护</a:t>
            </a:r>
            <a:endParaRPr sz="160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  <a:p>
            <a:pPr marL="210820">
              <a:lnSpc>
                <a:spcPct val="100000"/>
              </a:lnSpc>
              <a:spcBef>
                <a:spcPts val="1300"/>
              </a:spcBef>
            </a:pPr>
            <a:r>
              <a:rPr sz="1600" spc="-15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知识产权</a:t>
            </a:r>
            <a:endParaRPr sz="160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  <a:p>
            <a:pPr marL="38100">
              <a:lnSpc>
                <a:spcPct val="100000"/>
              </a:lnSpc>
              <a:spcBef>
                <a:spcPts val="1375"/>
              </a:spcBef>
            </a:pPr>
            <a:r>
              <a:rPr sz="1600" spc="-5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欢迎有意向的机构或投资人共同推进项目落地。</a:t>
            </a:r>
            <a:endParaRPr sz="160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7999" y="5560650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5999" y="0"/>
                </a:lnTo>
              </a:path>
            </a:pathLst>
          </a:custGeom>
          <a:ln w="6350">
            <a:solidFill>
              <a:srgbClr val="AAAAAA"/>
            </a:solidFill>
          </a:ln>
        </p:spPr>
        <p:txBody>
          <a:bodyPr wrap="square" lIns="0" tIns="0" rIns="0" bIns="0" rtlCol="0"/>
          <a:lstStyle/>
          <a:p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9293986" y="5696032"/>
            <a:ext cx="1081914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第 </a:t>
            </a:r>
            <a:fld id="{81D60167-4931-47E6-BA6A-407CBD079E47}" type="slidenum"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22</a:t>
            </a:fld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/ </a:t>
            </a:r>
            <a:r>
              <a:rPr lang="en-US" altLang="ko-KR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23 </a:t>
            </a:r>
            <a:r>
              <a:rPr lang="ko-KR" altLang="en-US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页</a:t>
            </a:r>
            <a:endParaRPr spc="-5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65"/>
              </a:lnSpc>
            </a:pPr>
            <a:r>
              <a:rPr spc="-1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虾壳式关节仿生设计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298" y="301071"/>
            <a:ext cx="2730201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 UI"/>
              </a:rPr>
              <a:t>10-5.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 UI"/>
              </a:rPr>
              <a:t>結語</a:t>
            </a:r>
            <a:endParaRPr spc="-25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 U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18300" y="1025611"/>
            <a:ext cx="3319994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dirty="0">
                <a:solidFill>
                  <a:srgbClr val="0033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 UI"/>
              </a:rPr>
              <a:t>仿生</a:t>
            </a:r>
            <a:r>
              <a:rPr sz="2500" b="1" dirty="0">
                <a:solidFill>
                  <a:srgbClr val="0033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虾壳</a:t>
            </a:r>
            <a:r>
              <a:rPr sz="2500" b="1" dirty="0">
                <a:solidFill>
                  <a:srgbClr val="0033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 UI"/>
              </a:rPr>
              <a:t>式</a:t>
            </a:r>
            <a:r>
              <a:rPr sz="2500" b="1" spc="-15" dirty="0">
                <a:solidFill>
                  <a:srgbClr val="0033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关节设计</a:t>
            </a:r>
            <a:endParaRPr sz="250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18300" y="1565027"/>
            <a:ext cx="3319994" cy="1515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sz="1600" spc="-55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通过仿生虾壳式机械人关节设计，我们致力于推动人形机械人技术平民化，让灵活、智能且高性价比的机械</a:t>
            </a:r>
            <a:r>
              <a:rPr lang="zh-TW" altLang="en-US" sz="1600" spc="-55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人</a:t>
            </a:r>
            <a:r>
              <a:rPr lang="zh-HK" altLang="en-US" sz="1600" spc="-5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。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  <a:p>
            <a:pPr marL="12700" algn="l">
              <a:lnSpc>
                <a:spcPct val="100000"/>
              </a:lnSpc>
              <a:spcBef>
                <a:spcPts val="100"/>
              </a:spcBef>
            </a:pPr>
            <a:endParaRPr lang="en-US" sz="1600" spc="-5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zh-TW" altLang="en-US" sz="1600" spc="-5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从</a:t>
            </a:r>
            <a:r>
              <a:rPr sz="1600" spc="-5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系统走进每一家企业与学校，真正实现降本增效与智能化转型</a:t>
            </a:r>
            <a:r>
              <a:rPr sz="1600" spc="-5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。</a:t>
            </a:r>
            <a:endParaRPr sz="160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18300" y="3331231"/>
            <a:ext cx="18034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欢迎交流与合作</a:t>
            </a:r>
            <a:endParaRPr sz="200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7999" y="5560650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5999" y="0"/>
                </a:lnTo>
              </a:path>
            </a:pathLst>
          </a:custGeom>
          <a:ln w="6350">
            <a:solidFill>
              <a:srgbClr val="AAAAAA"/>
            </a:solidFill>
          </a:ln>
        </p:spPr>
        <p:txBody>
          <a:bodyPr wrap="square" lIns="0" tIns="0" rIns="0" bIns="0" rtlCol="0"/>
          <a:lstStyle/>
          <a:p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9293986" y="5696032"/>
            <a:ext cx="929514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latin typeface="微軟正黑體" panose="020B0604030504040204" pitchFamily="34" charset="-120"/>
                <a:ea typeface="微軟正黑體" panose="020B0604030504040204" pitchFamily="34" charset="-120"/>
                <a:cs typeface="SimSun"/>
              </a:rPr>
              <a:t>第 </a:t>
            </a:r>
            <a:fld id="{81D60167-4931-47E6-BA6A-407CBD079E47}" type="slidenum">
              <a:rPr lang="en-US" altLang="zh-HK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23</a:t>
            </a:fld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/ </a:t>
            </a:r>
            <a:r>
              <a:rPr lang="en-US" altLang="ko-KR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23 </a:t>
            </a:r>
            <a:r>
              <a:rPr lang="ko-KR" altLang="en-US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页</a:t>
            </a:r>
            <a:endParaRPr spc="-50" dirty="0">
              <a:latin typeface="微軟正黑體" panose="020B0604030504040204" pitchFamily="34" charset="-120"/>
              <a:ea typeface="微軟正黑體" panose="020B0604030504040204" pitchFamily="34" charset="-120"/>
              <a:cs typeface="SimSu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65"/>
              </a:lnSpc>
            </a:pPr>
            <a:r>
              <a:rPr spc="-1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虾壳式关节仿生设计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CDBDC166-A856-7D35-BB5D-E245BC824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7603" y="903391"/>
            <a:ext cx="1955791" cy="4484832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315A203B-DE5F-A786-C154-AA283266B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298" y="903394"/>
            <a:ext cx="1955791" cy="4467870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D5DF4FD1-5C62-57D0-BD63-7FB3A2120D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5973" y="903391"/>
            <a:ext cx="2294983" cy="4493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</TotalTime>
  <Words>853</Words>
  <Application>Microsoft Macintosh PowerPoint</Application>
  <PresentationFormat>Custom</PresentationFormat>
  <Paragraphs>240</Paragraphs>
  <Slides>23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Microsoft JhengHei</vt:lpstr>
      <vt:lpstr>Microsoft JhengHei</vt:lpstr>
      <vt:lpstr>Microsoft JhengHei UI</vt:lpstr>
      <vt:lpstr>SimSun</vt:lpstr>
      <vt:lpstr>Times New Roman</vt:lpstr>
      <vt:lpstr>Office Theme</vt:lpstr>
      <vt:lpstr>仿生虾壳式机械人关节设计</vt:lpstr>
      <vt:lpstr>1-1. 项目名称与简介</vt:lpstr>
      <vt:lpstr>1-2. 理念由来（切入点）</vt:lpstr>
      <vt:lpstr>2-1. 传统关节类型与应用场景对比</vt:lpstr>
      <vt:lpstr>PowerPoint Presentation</vt:lpstr>
      <vt:lpstr>2-2. 市场的需要（市场前景）</vt:lpstr>
      <vt:lpstr>3. 我们的方案</vt:lpstr>
      <vt:lpstr>4. 市场分析</vt:lpstr>
      <vt:lpstr>5. 设计对比（我们的优势）</vt:lpstr>
      <vt:lpstr>6. 我们的虾壳式关节设计：CAD 展示</vt:lpstr>
      <vt:lpstr>6. 我们的虾壳式关节设计：CAD 展示</vt:lpstr>
      <vt:lpstr>6. 我们的虾壳式关节设计：CAD 展示</vt:lpstr>
      <vt:lpstr>6. 我们的虾壳式关节设计：CAD 展示</vt:lpstr>
      <vt:lpstr>6. 我们的虾壳式关节设计：CAD 展示</vt:lpstr>
      <vt:lpstr>6. 我们的虾壳式关节设计：CAD 展示</vt:lpstr>
      <vt:lpstr>7. 研发路径</vt:lpstr>
      <vt:lpstr>8. 风险与应对措施</vt:lpstr>
      <vt:lpstr>9. 核心团队优势</vt:lpstr>
      <vt:lpstr>10-1. 本设计应用场景</vt:lpstr>
      <vt:lpstr>10-2. 市场运作策略</vt:lpstr>
      <vt:lpstr>10-3. 盈利模式</vt:lpstr>
      <vt:lpstr>10-4. 项目需求</vt:lpstr>
      <vt:lpstr>10-5. 結語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4D26-WU TSZ SAN CARSON</cp:lastModifiedBy>
  <cp:revision>40</cp:revision>
  <dcterms:created xsi:type="dcterms:W3CDTF">2026-04-12T03:10:25Z</dcterms:created>
  <dcterms:modified xsi:type="dcterms:W3CDTF">2026-04-14T11:40:46Z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2026-04-12T00:00:00Z</vt:filetime>
  </property>
  <property fmtid="{D5CDD505-2E9C-101B-9397-08002B2CF9AE}" pid="3" name="Creator">
    <vt:lpwstr>Typst 0.14.2</vt:lpwstr>
  </property>
  <property fmtid="{D5CDD505-2E9C-101B-9397-08002B2CF9AE}" pid="4" name="LastSaved">
    <vt:filetime>2026-04-12T00:00:00Z</vt:filetime>
  </property>
</Properties>
</file>