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37" d="100"/>
          <a:sy n="137" d="100"/>
        </p:scale>
        <p:origin x="80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746842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100"/>
                </a:lnTo>
                <a:lnTo>
                  <a:pt x="0" y="38100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299" y="249890"/>
            <a:ext cx="5446395" cy="472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899" y="1161243"/>
            <a:ext cx="5308600" cy="233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299" y="5715590"/>
            <a:ext cx="12827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9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100" y="1449596"/>
            <a:ext cx="551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Microsoft JhengHei UI"/>
                <a:cs typeface="Microsoft JhengHei UI"/>
              </a:rPr>
              <a:t>仿生</a:t>
            </a:r>
            <a:r>
              <a:rPr sz="3600" dirty="0">
                <a:solidFill>
                  <a:srgbClr val="003399"/>
                </a:solidFill>
              </a:rPr>
              <a:t>虾壳</a:t>
            </a:r>
            <a:r>
              <a:rPr sz="3600" dirty="0">
                <a:solidFill>
                  <a:srgbClr val="003399"/>
                </a:solidFill>
                <a:latin typeface="Microsoft JhengHei UI"/>
                <a:cs typeface="Microsoft JhengHei UI"/>
              </a:rPr>
              <a:t>式机械人</a:t>
            </a:r>
            <a:r>
              <a:rPr sz="3600" spc="-15" dirty="0">
                <a:solidFill>
                  <a:srgbClr val="003399"/>
                </a:solidFill>
              </a:rPr>
              <a:t>关节设计</a:t>
            </a:r>
            <a:endParaRPr sz="3600">
              <a:latin typeface="Microsoft JhengHei UI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6508" y="2623076"/>
            <a:ext cx="6079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solidFill>
                  <a:srgbClr val="AAAAAA"/>
                </a:solidFill>
                <a:latin typeface="SimSun"/>
                <a:cs typeface="SimSun"/>
              </a:rPr>
              <a:t>自然刚柔耦合 </a:t>
            </a:r>
            <a:r>
              <a:rPr sz="2000" dirty="0">
                <a:solidFill>
                  <a:srgbClr val="AAAAAA"/>
                </a:solidFill>
                <a:latin typeface="Times New Roman"/>
                <a:cs typeface="Times New Roman"/>
              </a:rPr>
              <a:t>· </a:t>
            </a:r>
            <a:r>
              <a:rPr sz="2000" spc="-5" dirty="0">
                <a:solidFill>
                  <a:srgbClr val="AAAAAA"/>
                </a:solidFill>
                <a:latin typeface="SimSun"/>
                <a:cs typeface="SimSun"/>
              </a:rPr>
              <a:t>低成本高灵活人形机械人关节核心技术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4171" y="3872757"/>
            <a:ext cx="3485515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2400" baseline="-3472" dirty="0">
                <a:latin typeface="SimSun"/>
                <a:cs typeface="SimSun"/>
              </a:rPr>
              <a:t>项目团队：</a:t>
            </a:r>
            <a:r>
              <a:rPr sz="2400" spc="-112" baseline="-3472" dirty="0">
                <a:latin typeface="SimSun"/>
                <a:cs typeface="SimSun"/>
              </a:rPr>
              <a:t> </a:t>
            </a:r>
            <a:r>
              <a:rPr sz="1600" dirty="0">
                <a:latin typeface="SimSun"/>
                <a:cs typeface="SimSun"/>
              </a:rPr>
              <a:t>機腱科技（</a:t>
            </a:r>
            <a:r>
              <a:rPr sz="1600" dirty="0">
                <a:latin typeface="Times New Roman"/>
                <a:cs typeface="Times New Roman"/>
              </a:rPr>
              <a:t>Robotech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HK</a:t>
            </a:r>
            <a:r>
              <a:rPr sz="1600" spc="-25" dirty="0">
                <a:latin typeface="SimSun"/>
                <a:cs typeface="SimSun"/>
              </a:rPr>
              <a:t>）</a:t>
            </a:r>
            <a:r>
              <a:rPr sz="1600" dirty="0">
                <a:latin typeface="SimSun"/>
                <a:cs typeface="SimSun"/>
              </a:rPr>
              <a:t>日期</a:t>
            </a:r>
            <a:r>
              <a:rPr sz="1600" spc="-50" dirty="0">
                <a:latin typeface="SimSun"/>
                <a:cs typeface="SimSun"/>
              </a:rPr>
              <a:t>：</a:t>
            </a:r>
            <a:r>
              <a:rPr sz="1600" dirty="0">
                <a:latin typeface="SimSun"/>
                <a:cs typeface="SimSun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2026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imSun"/>
                <a:cs typeface="SimSun"/>
              </a:rPr>
              <a:t>年</a:t>
            </a:r>
            <a:r>
              <a:rPr sz="1600" spc="-400" dirty="0">
                <a:latin typeface="SimSun"/>
                <a:cs typeface="SimSu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 </a:t>
            </a:r>
            <a:r>
              <a:rPr sz="1600" dirty="0">
                <a:latin typeface="SimSun"/>
                <a:cs typeface="SimSun"/>
              </a:rPr>
              <a:t>月</a:t>
            </a:r>
            <a:r>
              <a:rPr sz="1600" spc="-400" dirty="0">
                <a:latin typeface="SimSun"/>
                <a:cs typeface="SimSu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12 </a:t>
            </a:r>
            <a:r>
              <a:rPr sz="1600" spc="-50" dirty="0">
                <a:latin typeface="SimSun"/>
                <a:cs typeface="SimSun"/>
              </a:rPr>
              <a:t>日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336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项目名称与简介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9472295" cy="353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Microsoft JhengHei"/>
                <a:cs typeface="Microsoft JhengHei"/>
              </a:rPr>
              <a:t>项目名称</a:t>
            </a:r>
            <a:r>
              <a:rPr sz="1600" dirty="0">
                <a:latin typeface="SimSun"/>
                <a:cs typeface="SimSun"/>
              </a:rPr>
              <a:t>：機腱科技（</a:t>
            </a:r>
            <a:r>
              <a:rPr sz="1600" dirty="0">
                <a:latin typeface="Times New Roman"/>
                <a:cs typeface="Times New Roman"/>
              </a:rPr>
              <a:t>Robotech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HK</a:t>
            </a:r>
            <a:r>
              <a:rPr sz="1600" dirty="0">
                <a:latin typeface="SimSun"/>
                <a:cs typeface="SimSun"/>
              </a:rPr>
              <a:t>）</a:t>
            </a:r>
            <a:r>
              <a:rPr sz="1600" spc="-5" dirty="0">
                <a:latin typeface="SimSun"/>
                <a:cs typeface="SimSun"/>
              </a:rPr>
              <a:t>仿生虾壳式机械人关节设计</a:t>
            </a:r>
            <a:endParaRPr sz="1600">
              <a:latin typeface="SimSun"/>
              <a:cs typeface="SimSun"/>
            </a:endParaRPr>
          </a:p>
          <a:p>
            <a:pPr marL="38100" marR="30480">
              <a:lnSpc>
                <a:spcPct val="167500"/>
              </a:lnSpc>
              <a:spcBef>
                <a:spcPts val="80"/>
              </a:spcBef>
            </a:pPr>
            <a:r>
              <a:rPr sz="1600" b="1" dirty="0">
                <a:latin typeface="Microsoft JhengHei"/>
                <a:cs typeface="Microsoft JhengHei"/>
              </a:rPr>
              <a:t>项目简介</a:t>
            </a:r>
            <a:r>
              <a:rPr sz="1600" spc="-50" dirty="0">
                <a:latin typeface="SimSun"/>
                <a:cs typeface="SimSun"/>
              </a:rPr>
              <a:t>： 本项目旨在开发一款新颖的机械人关节设计，采用仿生设计，通过模仿虾壳的结构和功能，提</a:t>
            </a:r>
            <a:r>
              <a:rPr sz="1600" spc="-5" dirty="0">
                <a:latin typeface="SimSun"/>
                <a:cs typeface="SimSun"/>
              </a:rPr>
              <a:t>升机械或人工智能系统的机动性能。</a:t>
            </a:r>
            <a:endParaRPr sz="16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sz="1600" b="1" dirty="0">
                <a:latin typeface="Microsoft JhengHei UI"/>
                <a:cs typeface="Microsoft JhengHei UI"/>
              </a:rPr>
              <a:t>核心特点</a:t>
            </a:r>
            <a:r>
              <a:rPr sz="1600" spc="-50" dirty="0">
                <a:latin typeface="SimSun"/>
                <a:cs typeface="SimSun"/>
              </a:rPr>
              <a:t>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0" dirty="0">
                <a:latin typeface="SimSun"/>
                <a:cs typeface="SimSun"/>
              </a:rPr>
              <a:t>自然灵巧，刚柔耦合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低成本、高强度、易伸展的机械人核心技术</a:t>
            </a:r>
            <a:endParaRPr sz="16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b="1" dirty="0">
                <a:latin typeface="Microsoft JhengHei UI"/>
                <a:cs typeface="Microsoft JhengHei UI"/>
              </a:rPr>
              <a:t>具体</a:t>
            </a:r>
            <a:r>
              <a:rPr sz="1600" b="1" dirty="0">
                <a:latin typeface="Microsoft JhengHei"/>
                <a:cs typeface="Microsoft JhengHei"/>
              </a:rPr>
              <a:t>设计</a:t>
            </a:r>
            <a:r>
              <a:rPr sz="1600" b="1" dirty="0">
                <a:latin typeface="Microsoft JhengHei UI"/>
                <a:cs typeface="Microsoft JhengHei UI"/>
              </a:rPr>
              <a:t>思路与分析</a:t>
            </a:r>
            <a:r>
              <a:rPr sz="1600" spc="-50" dirty="0">
                <a:latin typeface="SimSun"/>
                <a:cs typeface="SimSun"/>
              </a:rPr>
              <a:t>：</a:t>
            </a:r>
            <a:endParaRPr sz="1600">
              <a:latin typeface="SimSun"/>
              <a:cs typeface="SimSun"/>
            </a:endParaRPr>
          </a:p>
          <a:p>
            <a:pPr marL="210820" marR="30480" indent="-173355">
              <a:lnSpc>
                <a:spcPct val="167500"/>
              </a:lnSpc>
              <a:buFont typeface="Times New Roman"/>
              <a:buChar char="•"/>
              <a:tabLst>
                <a:tab pos="210820" algn="l"/>
              </a:tabLst>
            </a:pPr>
            <a:r>
              <a:rPr sz="1600" spc="-65" dirty="0">
                <a:latin typeface="SimSun"/>
                <a:cs typeface="SimSun"/>
              </a:rPr>
              <a:t>刚柔一体化：通过结合刚性和柔性材料，模仿虾壳的结构特性，使关节既能承受较大的机械负载，又能灵</a:t>
            </a:r>
            <a:r>
              <a:rPr sz="1600" spc="-15" dirty="0">
                <a:latin typeface="SimSun"/>
                <a:cs typeface="SimSun"/>
              </a:rPr>
              <a:t>活运动。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606852"/>
            <a:ext cx="9421495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sz="1600" dirty="0">
                <a:latin typeface="SimSun"/>
                <a:cs typeface="SimSun"/>
              </a:rPr>
              <a:t>反向共轭面设计（</a:t>
            </a:r>
            <a:r>
              <a:rPr sz="1600" dirty="0">
                <a:latin typeface="Times New Roman"/>
                <a:cs typeface="Times New Roman"/>
              </a:rPr>
              <a:t>Reverse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Conjugate</a:t>
            </a:r>
            <a:r>
              <a:rPr sz="1600" spc="-15" dirty="0">
                <a:latin typeface="Times New Roman"/>
                <a:cs typeface="Times New Roman"/>
              </a:rPr>
              <a:t> Surface</a:t>
            </a:r>
            <a:r>
              <a:rPr sz="1600" spc="-815" dirty="0">
                <a:latin typeface="SimSun"/>
                <a:cs typeface="SimSun"/>
              </a:rPr>
              <a:t>）</a:t>
            </a:r>
            <a:r>
              <a:rPr sz="1600" spc="-15" dirty="0">
                <a:latin typeface="SimSun"/>
                <a:cs typeface="SimSun"/>
              </a:rPr>
              <a:t>：这种设计能够优化关节的运动范围和传动效率，同时减少</a:t>
            </a:r>
            <a:endParaRPr sz="1600">
              <a:latin typeface="SimSun"/>
              <a:cs typeface="SimSun"/>
            </a:endParaRPr>
          </a:p>
          <a:p>
            <a:pPr marL="185420">
              <a:lnSpc>
                <a:spcPct val="100000"/>
              </a:lnSpc>
              <a:spcBef>
                <a:spcPts val="1295"/>
              </a:spcBef>
            </a:pPr>
            <a:r>
              <a:rPr sz="1600" spc="-10" dirty="0">
                <a:latin typeface="SimSun"/>
                <a:cs typeface="SimSun"/>
              </a:rPr>
              <a:t>机械结构的复杂性。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3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695661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099"/>
                </a:lnTo>
                <a:lnTo>
                  <a:pt x="0" y="38099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1. </a:t>
            </a:r>
            <a:r>
              <a:rPr dirty="0">
                <a:latin typeface="Microsoft JhengHei UI"/>
                <a:cs typeface="Microsoft JhengHei UI"/>
              </a:rPr>
              <a:t>理念由来（切入点</a:t>
            </a:r>
            <a:r>
              <a:rPr spc="-50" dirty="0">
                <a:latin typeface="Microsoft JhengHei UI"/>
                <a:cs typeface="Microsoft JhengHei UI"/>
              </a:rPr>
              <a:t>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299" y="1161243"/>
            <a:ext cx="3683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传统人形机械人关节普遍采用以下方案：</a:t>
            </a:r>
            <a:endParaRPr sz="1600">
              <a:latin typeface="SimSun"/>
              <a:cs typeface="SimSu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4824" y="1648287"/>
          <a:ext cx="9478645" cy="166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latin typeface="Microsoft JhengHei"/>
                          <a:cs typeface="Microsoft JhengHei"/>
                        </a:rPr>
                        <a:t>关节类型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</a:pPr>
                      <a:r>
                        <a:rPr sz="1800" b="1" spc="-15" dirty="0">
                          <a:latin typeface="Microsoft JhengHei UI"/>
                          <a:cs typeface="Microsoft JhengHei UI"/>
                        </a:rPr>
                        <a:t>成本占比</a:t>
                      </a:r>
                      <a:endParaRPr sz="18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</a:pPr>
                      <a:r>
                        <a:rPr sz="1800" b="1" spc="-15" dirty="0">
                          <a:latin typeface="Microsoft JhengHei UI"/>
                          <a:cs typeface="Microsoft JhengHei UI"/>
                        </a:rPr>
                        <a:t>主要缺点</a:t>
                      </a:r>
                      <a:endParaRPr sz="18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SimSun"/>
                          <a:cs typeface="SimSun"/>
                        </a:rPr>
                        <a:t>传统刚性多轴关节（齿轮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spc="-25" dirty="0">
                          <a:latin typeface="SimSun"/>
                          <a:cs typeface="SimSun"/>
                        </a:rPr>
                        <a:t>减速</a:t>
                      </a:r>
                      <a:endParaRPr sz="18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dirty="0">
                          <a:latin typeface="SimSun"/>
                          <a:cs typeface="SimSun"/>
                        </a:rPr>
                        <a:t>器</a:t>
                      </a:r>
                      <a:r>
                        <a:rPr sz="1800" spc="-50" dirty="0">
                          <a:latin typeface="SimSun"/>
                          <a:cs typeface="SimSun"/>
                        </a:rPr>
                        <a:t>）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60%–70%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SimSun"/>
                          <a:cs typeface="SimSun"/>
                        </a:rPr>
                        <a:t>灵活性差、重量大、无法实现大角度极端姿</a:t>
                      </a:r>
                      <a:endParaRPr sz="18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spc="-50" dirty="0">
                          <a:latin typeface="SimSun"/>
                          <a:cs typeface="SimSun"/>
                        </a:rPr>
                        <a:t>态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SimSun"/>
                          <a:cs typeface="SimSun"/>
                        </a:rPr>
                        <a:t>谐波减速器关节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45%–55%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SimSun"/>
                          <a:cs typeface="SimSun"/>
                        </a:rPr>
                        <a:t>成本极高、结构复杂、维护困难、能耗高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SimSun"/>
                          <a:cs typeface="SimSun"/>
                        </a:rPr>
                        <a:t>纯拮抗腱驱动关节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55%–65%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SimSun"/>
                          <a:cs typeface="SimSun"/>
                        </a:rPr>
                        <a:t>电机数量多、同步控制难、长期磨损严重</a:t>
                      </a:r>
                      <a:endParaRPr sz="1800">
                        <a:latin typeface="SimSun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5299" y="3548843"/>
            <a:ext cx="9421495" cy="102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SimSun"/>
                <a:cs typeface="SimSun"/>
              </a:rPr>
              <a:t>这些方案共同痛点：高成本与灵活性不足。</a:t>
            </a:r>
            <a:endParaRPr sz="1500">
              <a:latin typeface="SimSun"/>
              <a:cs typeface="SimSun"/>
            </a:endParaRPr>
          </a:p>
          <a:p>
            <a:pPr marL="12700" marR="5080">
              <a:lnSpc>
                <a:spcPct val="167500"/>
              </a:lnSpc>
              <a:spcBef>
                <a:spcPts val="75"/>
              </a:spcBef>
            </a:pPr>
            <a:r>
              <a:rPr sz="1500" spc="-50" dirty="0">
                <a:latin typeface="SimSun"/>
                <a:cs typeface="SimSun"/>
              </a:rPr>
              <a:t>我们从虾类腹部外骨骼的「多段刚性壳及柔性连接」天然结构中获得灵感，提出虾壳式多段混合关节，旨在以更低</a:t>
            </a:r>
            <a:r>
              <a:rPr sz="1500" spc="-5" dirty="0">
                <a:latin typeface="SimSun"/>
                <a:cs typeface="SimSun"/>
              </a:rPr>
              <a:t>成本实现更高的运动灵活性。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4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4318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传统关节类型与应用场景对比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299" y="1252809"/>
            <a:ext cx="38862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Microsoft JhengHei"/>
                <a:cs typeface="Microsoft JhengHei"/>
              </a:rPr>
              <a:t>传统主流关节类型及其典型应用场景</a:t>
            </a:r>
            <a:endParaRPr sz="1900">
              <a:latin typeface="Microsoft JhengHei"/>
              <a:cs typeface="Microsoft JhengHe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4824" y="1996395"/>
          <a:ext cx="9478645" cy="2333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Microsoft JhengHei"/>
                          <a:cs typeface="Microsoft JhengHei"/>
                        </a:rPr>
                        <a:t>关节类型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Microsoft JhengHei"/>
                          <a:cs typeface="Microsoft JhengHei"/>
                        </a:rPr>
                        <a:t>结构特点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dirty="0">
                          <a:latin typeface="Microsoft JhengHei UI"/>
                          <a:cs typeface="Microsoft JhengHei UI"/>
                        </a:rPr>
                        <a:t>典型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应</a:t>
                      </a:r>
                      <a:r>
                        <a:rPr sz="1500" b="1" dirty="0">
                          <a:latin typeface="Microsoft JhengHei UI"/>
                          <a:cs typeface="Microsoft JhengHei UI"/>
                        </a:rPr>
                        <a:t>用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场</a:t>
                      </a:r>
                      <a:r>
                        <a:rPr sz="1500" b="1" spc="-50" dirty="0">
                          <a:latin typeface="Microsoft JhengHei UI"/>
                          <a:cs typeface="Microsoft JhengHei UI"/>
                        </a:rPr>
                        <a:t>景</a:t>
                      </a:r>
                      <a:endParaRPr sz="15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1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SimSun"/>
                          <a:cs typeface="SimSun"/>
                        </a:rPr>
                        <a:t>传统刚性多轴关节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dirty="0">
                          <a:latin typeface="SimSun"/>
                          <a:cs typeface="SimSun"/>
                        </a:rPr>
                        <a:t>（齿轮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500" dirty="0">
                          <a:latin typeface="SimSun"/>
                          <a:cs typeface="SimSun"/>
                        </a:rPr>
                        <a:t>减速器</a:t>
                      </a:r>
                      <a:r>
                        <a:rPr sz="1500" spc="-50" dirty="0">
                          <a:latin typeface="SimSun"/>
                          <a:cs typeface="SimSun"/>
                        </a:rPr>
                        <a:t>）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" dirty="0">
                          <a:latin typeface="SimSun"/>
                          <a:cs typeface="SimSun"/>
                        </a:rPr>
                        <a:t>结构简单、刚性强、精度较高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30" dirty="0">
                          <a:latin typeface="SimSun"/>
                          <a:cs typeface="SimSun"/>
                        </a:rPr>
                        <a:t>工业自动化、精密装配线、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CNC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30" dirty="0">
                          <a:latin typeface="SimSun"/>
                          <a:cs typeface="SimSun"/>
                        </a:rPr>
                        <a:t>机床、焊接机械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10" dirty="0">
                          <a:latin typeface="SimSun"/>
                          <a:cs typeface="SimSun"/>
                        </a:rPr>
                        <a:t>人、通用工业机械臂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299" y="2506299"/>
            <a:ext cx="1135846" cy="8244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4945" y="3281634"/>
            <a:ext cx="1405164" cy="9379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5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44824" y="644824"/>
          <a:ext cx="9478645" cy="4390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Microsoft JhengHei"/>
                          <a:cs typeface="Microsoft JhengHei"/>
                        </a:rPr>
                        <a:t>关节类型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Microsoft JhengHei"/>
                          <a:cs typeface="Microsoft JhengHei"/>
                        </a:rPr>
                        <a:t>结构特点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dirty="0">
                          <a:latin typeface="Microsoft JhengHei UI"/>
                          <a:cs typeface="Microsoft JhengHei UI"/>
                        </a:rPr>
                        <a:t>典型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应</a:t>
                      </a:r>
                      <a:r>
                        <a:rPr sz="1500" b="1" dirty="0">
                          <a:latin typeface="Microsoft JhengHei UI"/>
                          <a:cs typeface="Microsoft JhengHei UI"/>
                        </a:rPr>
                        <a:t>用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场</a:t>
                      </a:r>
                      <a:r>
                        <a:rPr sz="1500" b="1" spc="-50" dirty="0">
                          <a:latin typeface="Microsoft JhengHei UI"/>
                          <a:cs typeface="Microsoft JhengHei UI"/>
                        </a:rPr>
                        <a:t>景</a:t>
                      </a:r>
                      <a:endParaRPr sz="15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SimSun"/>
                          <a:cs typeface="SimSun"/>
                        </a:rPr>
                        <a:t>谐波减速器关节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5" dirty="0">
                          <a:latin typeface="SimSun"/>
                          <a:cs typeface="SimSun"/>
                        </a:rPr>
                        <a:t>体积小、减速比大、精度极高、扭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25" dirty="0">
                          <a:latin typeface="SimSun"/>
                          <a:cs typeface="SimSun"/>
                        </a:rPr>
                        <a:t>矩大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90" dirty="0">
                          <a:latin typeface="SimSun"/>
                          <a:cs typeface="SimSun"/>
                        </a:rPr>
                        <a:t>汽车制造</a:t>
                      </a:r>
                      <a:r>
                        <a:rPr sz="1500" dirty="0">
                          <a:latin typeface="SimSun"/>
                          <a:cs typeface="SimSun"/>
                        </a:rPr>
                        <a:t>（</a:t>
                      </a:r>
                      <a:r>
                        <a:rPr sz="1500" spc="-100" dirty="0">
                          <a:latin typeface="SimSun"/>
                          <a:cs typeface="SimSun"/>
                        </a:rPr>
                        <a:t>焊接、喷涂、装配</a:t>
                      </a:r>
                      <a:r>
                        <a:rPr sz="1500" spc="-750" dirty="0">
                          <a:latin typeface="SimSun"/>
                          <a:cs typeface="SimSun"/>
                        </a:rPr>
                        <a:t>）</a:t>
                      </a:r>
                      <a:r>
                        <a:rPr sz="1500" spc="-55" dirty="0">
                          <a:latin typeface="SimSun"/>
                          <a:cs typeface="SimSun"/>
                        </a:rPr>
                        <a:t>、医疗手术机械人、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5" dirty="0">
                          <a:latin typeface="SimSun"/>
                          <a:cs typeface="SimSun"/>
                        </a:rPr>
                        <a:t>航天航空高端装备、高精度工业机械人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SimSun"/>
                          <a:cs typeface="SimSun"/>
                        </a:rPr>
                        <a:t>纯拮抗腱驱动关节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0" dirty="0">
                          <a:latin typeface="SimSun"/>
                          <a:cs typeface="SimSun"/>
                        </a:rPr>
                        <a:t>重量轻、柔顺性较好、电机数量多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75" dirty="0">
                          <a:latin typeface="SimSun"/>
                          <a:cs typeface="SimSun"/>
                        </a:rPr>
                        <a:t>轻型协作机械人、物流仓储</a:t>
                      </a:r>
                      <a:r>
                        <a:rPr sz="1500" spc="-10" dirty="0">
                          <a:latin typeface="SimSun"/>
                          <a:cs typeface="SimSun"/>
                        </a:rPr>
                        <a:t>（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AGV</a:t>
                      </a:r>
                      <a:r>
                        <a:rPr sz="15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SimSun"/>
                          <a:cs typeface="SimSun"/>
                        </a:rPr>
                        <a:t>小车</a:t>
                      </a:r>
                      <a:r>
                        <a:rPr sz="1500" spc="-750" dirty="0">
                          <a:latin typeface="SimSun"/>
                          <a:cs typeface="SimSun"/>
                        </a:rPr>
                        <a:t>）</a:t>
                      </a:r>
                      <a:r>
                        <a:rPr sz="1500" spc="-110" dirty="0">
                          <a:latin typeface="SimSun"/>
                          <a:cs typeface="SimSun"/>
                        </a:rPr>
                        <a:t>、部分服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5" dirty="0">
                          <a:latin typeface="SimSun"/>
                          <a:cs typeface="SimSun"/>
                        </a:rPr>
                        <a:t>务型机械人、需要一定柔顺性的场景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299" y="1154729"/>
            <a:ext cx="1135846" cy="10203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4945" y="1930064"/>
            <a:ext cx="1405164" cy="1053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299" y="3212538"/>
            <a:ext cx="1135846" cy="3841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4945" y="3987872"/>
            <a:ext cx="1405164" cy="9371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6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605073"/>
            <a:ext cx="58547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共同局限：成本高昂且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灵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活性不足，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难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以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实现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大范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围极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端姿</a:t>
            </a:r>
            <a:r>
              <a:rPr sz="1700" b="1" spc="-50" dirty="0">
                <a:solidFill>
                  <a:srgbClr val="CC0000"/>
                </a:solidFill>
                <a:latin typeface="Microsoft JhengHei"/>
                <a:cs typeface="Microsoft JhengHei"/>
              </a:rPr>
              <a:t>态</a:t>
            </a:r>
            <a:endParaRPr sz="17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7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2. </a:t>
            </a:r>
            <a:r>
              <a:rPr dirty="0">
                <a:latin typeface="Microsoft JhengHei UI"/>
                <a:cs typeface="Microsoft JhengHei UI"/>
              </a:rPr>
              <a:t>市</a:t>
            </a:r>
            <a:r>
              <a:rPr dirty="0"/>
              <a:t>场</a:t>
            </a:r>
            <a:r>
              <a:rPr dirty="0">
                <a:latin typeface="Microsoft JhengHei UI"/>
                <a:cs typeface="Microsoft JhengHei UI"/>
              </a:rPr>
              <a:t>的需要（市</a:t>
            </a:r>
            <a:r>
              <a:rPr dirty="0"/>
              <a:t>场</a:t>
            </a:r>
            <a:r>
              <a:rPr dirty="0">
                <a:latin typeface="Microsoft JhengHei UI"/>
                <a:cs typeface="Microsoft JhengHei UI"/>
              </a:rPr>
              <a:t>前景</a:t>
            </a:r>
            <a:r>
              <a:rPr spc="-50" dirty="0">
                <a:latin typeface="Microsoft JhengHei UI"/>
                <a:cs typeface="Microsoft JhengHei UI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8159115" cy="151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人形机械人市场正高速增长：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2025 </a:t>
            </a:r>
            <a:r>
              <a:rPr sz="1600" spc="-45" dirty="0">
                <a:latin typeface="SimSun"/>
                <a:cs typeface="SimSun"/>
              </a:rPr>
              <a:t>年全球市场规模约 </a:t>
            </a:r>
            <a:r>
              <a:rPr sz="1600" dirty="0">
                <a:latin typeface="Times New Roman"/>
                <a:cs typeface="Times New Roman"/>
              </a:rPr>
              <a:t>29 </a:t>
            </a:r>
            <a:r>
              <a:rPr sz="1600" spc="-20" dirty="0">
                <a:latin typeface="SimSun"/>
                <a:cs typeface="SimSun"/>
              </a:rPr>
              <a:t>亿美元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35" dirty="0">
                <a:latin typeface="SimSun"/>
                <a:cs typeface="SimSun"/>
              </a:rPr>
              <a:t>预计 </a:t>
            </a:r>
            <a:r>
              <a:rPr sz="1600" dirty="0">
                <a:latin typeface="Times New Roman"/>
                <a:cs typeface="Times New Roman"/>
              </a:rPr>
              <a:t>2030 </a:t>
            </a:r>
            <a:r>
              <a:rPr sz="1600" spc="-135" dirty="0">
                <a:latin typeface="SimSun"/>
                <a:cs typeface="SimSun"/>
              </a:rPr>
              <a:t>年达 </a:t>
            </a:r>
            <a:r>
              <a:rPr sz="1600" dirty="0">
                <a:latin typeface="Times New Roman"/>
                <a:cs typeface="Times New Roman"/>
              </a:rPr>
              <a:t>152 </a:t>
            </a:r>
            <a:r>
              <a:rPr sz="1600" dirty="0">
                <a:latin typeface="SimSun"/>
                <a:cs typeface="SimSun"/>
              </a:rPr>
              <a:t>亿美元（</a:t>
            </a:r>
            <a:r>
              <a:rPr sz="1600" dirty="0">
                <a:latin typeface="Times New Roman"/>
                <a:cs typeface="Times New Roman"/>
              </a:rPr>
              <a:t>CAGR </a:t>
            </a:r>
            <a:r>
              <a:rPr sz="1600" spc="-10" dirty="0">
                <a:latin typeface="Times New Roman"/>
                <a:cs typeface="Times New Roman"/>
              </a:rPr>
              <a:t>39.2%</a:t>
            </a:r>
            <a:r>
              <a:rPr sz="1600" spc="-10" dirty="0">
                <a:latin typeface="SimSun"/>
                <a:cs typeface="SimSun"/>
              </a:rPr>
              <a:t>）</a:t>
            </a:r>
            <a:endParaRPr sz="16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dirty="0">
                <a:latin typeface="SimSun"/>
                <a:cs typeface="SimSun"/>
              </a:rPr>
              <a:t>核心需求：高灵活腰部</a:t>
            </a:r>
            <a:r>
              <a:rPr sz="1600" spc="-10" dirty="0">
                <a:latin typeface="Times New Roman"/>
                <a:cs typeface="Times New Roman"/>
              </a:rPr>
              <a:t>/</a:t>
            </a:r>
            <a:r>
              <a:rPr sz="1600" dirty="0">
                <a:latin typeface="SimSun"/>
                <a:cs typeface="SimSun"/>
              </a:rPr>
              <a:t>脊柱、支持极端姿态（舞蹈、后仰、劈叉</a:t>
            </a:r>
            <a:r>
              <a:rPr sz="1600" spc="-800" dirty="0">
                <a:latin typeface="SimSun"/>
                <a:cs typeface="SimSun"/>
              </a:rPr>
              <a:t>）</a:t>
            </a:r>
            <a:r>
              <a:rPr sz="1600" spc="-5" dirty="0">
                <a:latin typeface="SimSun"/>
                <a:cs typeface="SimSun"/>
              </a:rPr>
              <a:t>，同时兼顾低成本量产。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8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0066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3.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spc="-20" dirty="0">
                <a:latin typeface="Microsoft JhengHei UI"/>
                <a:cs typeface="Microsoft JhengHei UI"/>
              </a:rPr>
              <a:t>的方案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5969000" cy="233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虾壳式多段柔性关节模块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5 </a:t>
            </a:r>
            <a:r>
              <a:rPr sz="1600" dirty="0">
                <a:latin typeface="SimSun"/>
                <a:cs typeface="SimSun"/>
              </a:rPr>
              <a:t>段仿生脊柱</a:t>
            </a:r>
            <a:r>
              <a:rPr sz="1600" spc="-10" dirty="0">
                <a:latin typeface="Times New Roman"/>
                <a:cs typeface="Times New Roman"/>
              </a:rPr>
              <a:t>/</a:t>
            </a:r>
            <a:r>
              <a:rPr sz="1600" spc="-15" dirty="0">
                <a:latin typeface="SimSun"/>
                <a:cs typeface="SimSun"/>
              </a:rPr>
              <a:t>腰部结构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35" dirty="0">
                <a:latin typeface="SimSun"/>
                <a:cs typeface="SimSun"/>
              </a:rPr>
              <a:t>支持 </a:t>
            </a:r>
            <a:r>
              <a:rPr sz="1600" dirty="0">
                <a:latin typeface="Times New Roman"/>
                <a:cs typeface="Times New Roman"/>
              </a:rPr>
              <a:t>90°+ </a:t>
            </a:r>
            <a:r>
              <a:rPr sz="1600" dirty="0">
                <a:latin typeface="SimSun"/>
                <a:cs typeface="SimSun"/>
              </a:rPr>
              <a:t>后仰桥、</a:t>
            </a:r>
            <a:r>
              <a:rPr sz="1600" dirty="0">
                <a:latin typeface="Times New Roman"/>
                <a:cs typeface="Times New Roman"/>
              </a:rPr>
              <a:t>180°+ </a:t>
            </a:r>
            <a:r>
              <a:rPr sz="1600" spc="-10" dirty="0">
                <a:latin typeface="SimSun"/>
                <a:cs typeface="SimSun"/>
              </a:rPr>
              <a:t>劈叉、单腿过头抬高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结合腱驱动、弹簧回位与欠驱动优化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80" dirty="0">
                <a:latin typeface="SimSun"/>
                <a:cs typeface="SimSun"/>
              </a:rPr>
              <a:t>目标成本 </a:t>
            </a:r>
            <a:r>
              <a:rPr sz="1600" dirty="0">
                <a:latin typeface="Times New Roman"/>
                <a:cs typeface="Times New Roman"/>
              </a:rPr>
              <a:t>&lt; 770 </a:t>
            </a:r>
            <a:r>
              <a:rPr sz="1600" dirty="0">
                <a:latin typeface="SimSun"/>
                <a:cs typeface="SimSun"/>
              </a:rPr>
              <a:t>美金（</a:t>
            </a:r>
            <a:r>
              <a:rPr sz="1600" dirty="0">
                <a:latin typeface="Times New Roman"/>
                <a:cs typeface="Times New Roman"/>
              </a:rPr>
              <a:t>V6 </a:t>
            </a:r>
            <a:r>
              <a:rPr sz="1600" dirty="0">
                <a:latin typeface="SimSun"/>
                <a:cs typeface="SimSun"/>
              </a:rPr>
              <a:t>版本</a:t>
            </a:r>
            <a:r>
              <a:rPr sz="1600" spc="-50" dirty="0">
                <a:latin typeface="SimSun"/>
                <a:cs typeface="SimSun"/>
              </a:rPr>
              <a:t>）</a:t>
            </a:r>
            <a:endParaRPr sz="16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spc="-5" dirty="0">
                <a:latin typeface="SimSun"/>
                <a:cs typeface="SimSun"/>
              </a:rPr>
              <a:t>核心价值：以可接受的成本实现接近生物水平的灵活性与顺应性。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9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16764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4. </a:t>
            </a:r>
            <a:r>
              <a:rPr dirty="0">
                <a:latin typeface="Microsoft JhengHei UI"/>
                <a:cs typeface="Microsoft JhengHei UI"/>
              </a:rPr>
              <a:t>市</a:t>
            </a:r>
            <a:r>
              <a:rPr dirty="0"/>
              <a:t>场</a:t>
            </a:r>
            <a:r>
              <a:rPr spc="-25" dirty="0">
                <a:latin typeface="Microsoft JhengHei UI"/>
                <a:cs typeface="Microsoft JhengHei UI"/>
              </a:rPr>
              <a:t>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5402580" cy="192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SimSun"/>
                <a:cs typeface="SimSun"/>
              </a:rPr>
              <a:t>当前主要竞争方案：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Boston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Dynamics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Atlas</a:t>
            </a:r>
            <a:r>
              <a:rPr sz="1600" spc="-10" dirty="0">
                <a:latin typeface="SimSun"/>
                <a:cs typeface="SimSun"/>
              </a:rPr>
              <a:t>：性能领先，但成本极高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Figure</a:t>
            </a:r>
            <a:r>
              <a:rPr sz="1600" spc="-40" dirty="0">
                <a:latin typeface="Times New Roman"/>
                <a:cs typeface="Times New Roman"/>
              </a:rPr>
              <a:t> / </a:t>
            </a:r>
            <a:r>
              <a:rPr sz="1600" spc="-10" dirty="0">
                <a:latin typeface="Times New Roman"/>
                <a:cs typeface="Times New Roman"/>
              </a:rPr>
              <a:t>Tesla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Optimus</a:t>
            </a:r>
            <a:r>
              <a:rPr sz="1600" spc="-10" dirty="0">
                <a:latin typeface="SimSun"/>
                <a:cs typeface="SimSun"/>
              </a:rPr>
              <a:t>：通用性强，腰部灵活性相对保守</a:t>
            </a:r>
            <a:endParaRPr sz="1600">
              <a:latin typeface="SimSun"/>
              <a:cs typeface="SimSun"/>
            </a:endParaRPr>
          </a:p>
          <a:p>
            <a:pPr marL="38100" marR="30480" indent="172720">
              <a:lnSpc>
                <a:spcPts val="3300"/>
              </a:lnSpc>
              <a:spcBef>
                <a:spcPts val="5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Unitree</a:t>
            </a:r>
            <a:r>
              <a:rPr sz="1600" spc="-50" dirty="0">
                <a:latin typeface="Times New Roman"/>
                <a:cs typeface="Times New Roman"/>
              </a:rPr>
              <a:t> / </a:t>
            </a:r>
            <a:r>
              <a:rPr sz="1600" dirty="0">
                <a:latin typeface="Times New Roman"/>
                <a:cs typeface="Times New Roman"/>
              </a:rPr>
              <a:t>Agility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Robotics</a:t>
            </a:r>
            <a:r>
              <a:rPr sz="1600" spc="-10" dirty="0">
                <a:latin typeface="SimSun"/>
                <a:cs typeface="SimSun"/>
              </a:rPr>
              <a:t>：性价比高，但极端姿态能力不足</a:t>
            </a:r>
            <a:r>
              <a:rPr sz="1600" spc="-5" dirty="0">
                <a:latin typeface="SimSun"/>
                <a:cs typeface="SimSun"/>
              </a:rPr>
              <a:t>主流方案仍以传统刚性关节或高成本精密关节为主。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5. </a:t>
            </a:r>
            <a:r>
              <a:rPr dirty="0"/>
              <a:t>设计对比（我们的优势</a:t>
            </a:r>
            <a:r>
              <a:rPr spc="-50" dirty="0"/>
              <a:t>）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4824" y="1250396"/>
          <a:ext cx="947864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Microsoft JhengHei"/>
                          <a:cs typeface="Microsoft JhengHei"/>
                        </a:rPr>
                        <a:t>对比维度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0" dirty="0">
                          <a:latin typeface="Microsoft JhengHei"/>
                          <a:cs typeface="Microsoft JhengHei"/>
                        </a:rPr>
                        <a:t>现有主流设计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dirty="0">
                          <a:latin typeface="Microsoft JhengHei UI"/>
                          <a:cs typeface="Microsoft JhengHei UI"/>
                        </a:rPr>
                        <a:t>我</a:t>
                      </a:r>
                      <a:r>
                        <a:rPr sz="1600" b="1" dirty="0">
                          <a:latin typeface="Microsoft JhengHei"/>
                          <a:cs typeface="Microsoft JhengHei"/>
                        </a:rPr>
                        <a:t>们</a:t>
                      </a:r>
                      <a:r>
                        <a:rPr sz="1600" b="1" dirty="0">
                          <a:latin typeface="Microsoft JhengHei UI"/>
                          <a:cs typeface="Microsoft JhengHei UI"/>
                        </a:rPr>
                        <a:t>的</a:t>
                      </a:r>
                      <a:r>
                        <a:rPr sz="1600" b="1" dirty="0">
                          <a:latin typeface="Microsoft JhengHei"/>
                          <a:cs typeface="Microsoft JhengHei"/>
                        </a:rPr>
                        <a:t>虾壳</a:t>
                      </a:r>
                      <a:r>
                        <a:rPr sz="1600" b="1" dirty="0">
                          <a:latin typeface="Microsoft JhengHei UI"/>
                          <a:cs typeface="Microsoft JhengHei UI"/>
                        </a:rPr>
                        <a:t>式</a:t>
                      </a:r>
                      <a:r>
                        <a:rPr sz="1600" b="1" spc="-25" dirty="0">
                          <a:latin typeface="Microsoft JhengHei"/>
                          <a:cs typeface="Microsoft JhengHei"/>
                        </a:rPr>
                        <a:t>设计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SimSun"/>
                          <a:cs typeface="SimSun"/>
                        </a:rPr>
                        <a:t>运动范围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受限于单轴刚性，极端姿态困难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SimSun"/>
                          <a:cs typeface="SimSun"/>
                        </a:rPr>
                        <a:t>多段设计，支持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90°+ </a:t>
                      </a:r>
                      <a:r>
                        <a:rPr sz="1600" dirty="0">
                          <a:latin typeface="SimSun"/>
                          <a:cs typeface="SimSun"/>
                        </a:rPr>
                        <a:t>后仰、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180°+ </a:t>
                      </a:r>
                      <a:r>
                        <a:rPr sz="1600" spc="-25" dirty="0">
                          <a:latin typeface="SimSun"/>
                          <a:cs typeface="SimSun"/>
                        </a:rPr>
                        <a:t>劈叉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SimSun"/>
                          <a:cs typeface="SimSun"/>
                        </a:rPr>
                        <a:t>成本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17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60%–70%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SimSun"/>
                          <a:cs typeface="SimSun"/>
                        </a:rPr>
                        <a:t>机械人总成本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欠驱动优化，显著降低成本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SimSun"/>
                          <a:cs typeface="SimSun"/>
                        </a:rPr>
                        <a:t>灵活性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20" dirty="0">
                          <a:latin typeface="SimSun"/>
                          <a:cs typeface="SimSun"/>
                        </a:rPr>
                        <a:t>顺应性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刚性强、冲击吸收差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刚柔耦合，良好冲击吸收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SimSun"/>
                          <a:cs typeface="SimSun"/>
                        </a:rPr>
                        <a:t>复杂度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15" dirty="0">
                          <a:latin typeface="SimSun"/>
                          <a:cs typeface="SimSun"/>
                        </a:rPr>
                        <a:t>电机数量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25" dirty="0">
                          <a:latin typeface="SimSun"/>
                          <a:cs typeface="SimSun"/>
                        </a:rPr>
                        <a:t>较高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SimSun"/>
                          <a:cs typeface="SimSun"/>
                        </a:rPr>
                        <a:t>显著减少（弹簧回位及共享电机</a:t>
                      </a:r>
                      <a:r>
                        <a:rPr sz="1600" spc="-50" dirty="0">
                          <a:latin typeface="SimSun"/>
                          <a:cs typeface="SimSun"/>
                        </a:rPr>
                        <a:t>）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SimSun"/>
                          <a:cs typeface="SimSun"/>
                        </a:rPr>
                        <a:t>控制难度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同步困难、能耗较高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PPO </a:t>
                      </a:r>
                      <a:r>
                        <a:rPr sz="1600" spc="-5" dirty="0">
                          <a:latin typeface="SimSun"/>
                          <a:cs typeface="SimSun"/>
                        </a:rPr>
                        <a:t>强化学习及微操作分解，较为平滑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35299" y="3459562"/>
            <a:ext cx="9421495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0" dirty="0">
                <a:latin typeface="Microsoft JhengHei"/>
                <a:cs typeface="Microsoft JhengHei"/>
              </a:rPr>
              <a:t>结论：相较于现有主流关节设计，我们的虾壳式关节在运动灵活性、系统成本控制以及结</a:t>
            </a:r>
            <a:endParaRPr sz="19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900" b="1" spc="-5" dirty="0">
                <a:latin typeface="Microsoft JhengHei"/>
                <a:cs typeface="Microsoft JhengHei"/>
              </a:rPr>
              <a:t>构可靠性上具备显著竞争优势。</a:t>
            </a:r>
            <a:endParaRPr sz="19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11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6400" y="2059767"/>
            <a:ext cx="1879199" cy="22964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49095" y="4723259"/>
            <a:ext cx="3994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AAAAA"/>
                </a:solidFill>
                <a:latin typeface="Times New Roman"/>
                <a:cs typeface="Times New Roman"/>
              </a:rPr>
              <a:t>4 </a:t>
            </a:r>
            <a:r>
              <a:rPr sz="1500" dirty="0">
                <a:solidFill>
                  <a:srgbClr val="AAAAAA"/>
                </a:solidFill>
                <a:latin typeface="SimSun"/>
                <a:cs typeface="SimSun"/>
              </a:rPr>
              <a:t>段刚性壳，</a:t>
            </a:r>
            <a:r>
              <a:rPr sz="1500" dirty="0">
                <a:solidFill>
                  <a:srgbClr val="AAAAAA"/>
                </a:solidFill>
                <a:latin typeface="Times New Roman"/>
                <a:cs typeface="Times New Roman"/>
              </a:rPr>
              <a:t>Dyneema </a:t>
            </a:r>
            <a:r>
              <a:rPr sz="1500" spc="-5" dirty="0">
                <a:solidFill>
                  <a:srgbClr val="AAAAAA"/>
                </a:solidFill>
                <a:latin typeface="SimSun"/>
                <a:cs typeface="SimSun"/>
              </a:rPr>
              <a:t>腱缆路由及弹簧回位机构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12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6400" y="2059767"/>
            <a:ext cx="1879199" cy="22964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7550" y="4723259"/>
            <a:ext cx="596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AAAA"/>
                </a:solidFill>
                <a:latin typeface="SimSun"/>
                <a:cs typeface="SimSun"/>
              </a:rPr>
              <a:t>前视图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13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6800" y="2059768"/>
            <a:ext cx="3758399" cy="23724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7550" y="4799288"/>
            <a:ext cx="596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AAAA"/>
                </a:solidFill>
                <a:latin typeface="SimSun"/>
                <a:cs typeface="SimSun"/>
              </a:rPr>
              <a:t>侧视图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6800" y="2059768"/>
            <a:ext cx="3758399" cy="23020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7550" y="4728817"/>
            <a:ext cx="596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AAAA"/>
                </a:solidFill>
                <a:latin typeface="SimSun"/>
                <a:cs typeface="SimSun"/>
              </a:rPr>
              <a:t>俯视图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6400" y="2059768"/>
            <a:ext cx="1879199" cy="24419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7550" y="4868774"/>
            <a:ext cx="596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AAAA"/>
                </a:solidFill>
                <a:latin typeface="SimSun"/>
                <a:cs typeface="SimSun"/>
              </a:rPr>
              <a:t>爆炸图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6.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dirty="0">
                <a:latin typeface="Microsoft JhengHei UI"/>
                <a:cs typeface="Microsoft JhengHei UI"/>
              </a:rPr>
              <a:t>的</a:t>
            </a:r>
            <a:r>
              <a:rPr dirty="0"/>
              <a:t>虾壳</a:t>
            </a:r>
            <a:r>
              <a:rPr dirty="0">
                <a:latin typeface="Microsoft JhengHei UI"/>
                <a:cs typeface="Microsoft JhengHei UI"/>
              </a:rPr>
              <a:t>式</a:t>
            </a:r>
            <a:r>
              <a:rPr dirty="0"/>
              <a:t>关节设计</a:t>
            </a:r>
            <a:r>
              <a:rPr dirty="0">
                <a:latin typeface="Microsoft JhengHei UI"/>
                <a:cs typeface="Microsoft JhengHei UI"/>
              </a:rPr>
              <a:t>：</a:t>
            </a:r>
            <a:r>
              <a:rPr dirty="0">
                <a:latin typeface="Times New Roman"/>
                <a:cs typeface="Times New Roman"/>
              </a:rPr>
              <a:t>CAD </a:t>
            </a:r>
            <a:r>
              <a:rPr spc="-25" dirty="0">
                <a:latin typeface="Microsoft JhengHei UI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18" y="1239347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/>
                <a:cs typeface="Microsoft JhengHei"/>
              </a:rPr>
              <a:t>虾壳式多段关节完整 </a:t>
            </a:r>
            <a:r>
              <a:rPr sz="1800" b="1" dirty="0">
                <a:latin typeface="Times New Roman"/>
                <a:cs typeface="Times New Roman"/>
              </a:rPr>
              <a:t>CAD </a:t>
            </a:r>
            <a:r>
              <a:rPr sz="1800" b="1" spc="-25" dirty="0">
                <a:latin typeface="Microsoft JhengHei UI"/>
                <a:cs typeface="Microsoft JhengHei UI"/>
              </a:rPr>
              <a:t>模型</a:t>
            </a:r>
            <a:endParaRPr sz="1800">
              <a:latin typeface="Microsoft JhengHei UI"/>
              <a:cs typeface="Microsoft Jheng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2800" y="4852758"/>
            <a:ext cx="4064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AAAAAA"/>
                </a:solidFill>
                <a:latin typeface="SimSun"/>
                <a:cs typeface="SimSun"/>
              </a:rPr>
              <a:t>影片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17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pic>
        <p:nvPicPr>
          <p:cNvPr id="9" name="926">
            <a:hlinkClick r:id="" action="ppaction://media"/>
            <a:extLst>
              <a:ext uri="{FF2B5EF4-FFF2-40B4-BE49-F238E27FC236}">
                <a16:creationId xmlns:a16="http://schemas.microsoft.com/office/drawing/2014/main" id="{D212B130-A1DC-950D-265A-D0449A9DC5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3300" y="1389207"/>
            <a:ext cx="2209205" cy="3927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16764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7. </a:t>
            </a:r>
            <a:r>
              <a:rPr dirty="0">
                <a:latin typeface="Microsoft JhengHei UI"/>
                <a:cs typeface="Microsoft JhengHei UI"/>
              </a:rPr>
              <a:t>研</a:t>
            </a:r>
            <a:r>
              <a:rPr dirty="0"/>
              <a:t>发</a:t>
            </a:r>
            <a:r>
              <a:rPr spc="-25" dirty="0">
                <a:latin typeface="Microsoft JhengHei UI"/>
                <a:cs typeface="Microsoft JhengHei UI"/>
              </a:rPr>
              <a:t>路径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7192009" cy="191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SimSun"/>
                <a:cs typeface="SimSun"/>
              </a:rPr>
              <a:t>研发路径与积累：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2016–2025 </a:t>
            </a:r>
            <a:r>
              <a:rPr sz="1600" dirty="0">
                <a:latin typeface="SimSun"/>
                <a:cs typeface="SimSun"/>
              </a:rPr>
              <a:t>年：</a:t>
            </a:r>
            <a:r>
              <a:rPr sz="1600" dirty="0">
                <a:latin typeface="Times New Roman"/>
                <a:cs typeface="Times New Roman"/>
              </a:rPr>
              <a:t>V1 </a:t>
            </a:r>
            <a:r>
              <a:rPr sz="1600" spc="-200" dirty="0">
                <a:latin typeface="SimSun"/>
                <a:cs typeface="SimSun"/>
              </a:rPr>
              <a:t>至 </a:t>
            </a:r>
            <a:r>
              <a:rPr sz="1600" dirty="0">
                <a:latin typeface="Times New Roman"/>
                <a:cs typeface="Times New Roman"/>
              </a:rPr>
              <a:t>V5 </a:t>
            </a:r>
            <a:r>
              <a:rPr sz="1600" spc="-10" dirty="0">
                <a:latin typeface="SimSun"/>
                <a:cs typeface="SimSun"/>
              </a:rPr>
              <a:t>多个版本持续迭代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SimSun"/>
                <a:cs typeface="SimSun"/>
              </a:rPr>
              <a:t>核心技术：</a:t>
            </a:r>
            <a:r>
              <a:rPr sz="1600" dirty="0">
                <a:latin typeface="Times New Roman"/>
                <a:cs typeface="Times New Roman"/>
              </a:rPr>
              <a:t>Dyneema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imSun"/>
                <a:cs typeface="SimSun"/>
              </a:rPr>
              <a:t>高强度腱缆、精密滑轮路由、</a:t>
            </a:r>
            <a:r>
              <a:rPr sz="1600" dirty="0">
                <a:latin typeface="Times New Roman"/>
                <a:cs typeface="Times New Roman"/>
              </a:rPr>
              <a:t>PPO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SimSun"/>
                <a:cs typeface="SimSun"/>
              </a:rPr>
              <a:t>强化学习及微操作分解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SimSun"/>
                <a:cs typeface="SimSun"/>
              </a:rPr>
              <a:t>仿真验证：</a:t>
            </a:r>
            <a:r>
              <a:rPr sz="1600" dirty="0">
                <a:latin typeface="Times New Roman"/>
                <a:cs typeface="Times New Roman"/>
              </a:rPr>
              <a:t>MuJoCo </a:t>
            </a:r>
            <a:r>
              <a:rPr sz="1600" spc="-5" dirty="0">
                <a:latin typeface="SimSun"/>
                <a:cs typeface="SimSun"/>
              </a:rPr>
              <a:t>平台多次完成关键物理动作验证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Times New Roman"/>
                <a:cs typeface="Times New Roman"/>
              </a:rPr>
              <a:t>2026 </a:t>
            </a:r>
            <a:r>
              <a:rPr sz="1600" spc="-60" dirty="0">
                <a:latin typeface="SimSun"/>
                <a:cs typeface="SimSun"/>
              </a:rPr>
              <a:t>年计划：完成 </a:t>
            </a:r>
            <a:r>
              <a:rPr sz="1600" dirty="0">
                <a:latin typeface="Times New Roman"/>
                <a:cs typeface="Times New Roman"/>
              </a:rPr>
              <a:t>V6 </a:t>
            </a:r>
            <a:r>
              <a:rPr sz="1600" spc="-5" dirty="0">
                <a:latin typeface="SimSun"/>
                <a:cs typeface="SimSun"/>
              </a:rPr>
              <a:t>低成本实物原型并进行进一步灵巧化扩展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336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8. </a:t>
            </a:r>
            <a:r>
              <a:rPr dirty="0">
                <a:latin typeface="Microsoft JhengHei UI"/>
                <a:cs typeface="Microsoft JhengHei UI"/>
              </a:rPr>
              <a:t>市</a:t>
            </a:r>
            <a:r>
              <a:rPr dirty="0"/>
              <a:t>场运</a:t>
            </a:r>
            <a:r>
              <a:rPr spc="-20" dirty="0">
                <a:latin typeface="Microsoft JhengHei UI"/>
                <a:cs typeface="Microsoft JhengHei UI"/>
              </a:rPr>
              <a:t>作策略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4719955" cy="191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我们将采取以下策略将技术优势转化为市场价值：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模块化销售及开放源代码，快速获取早期用户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与人形机械人整机厂商进行深度集成合作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SimSun"/>
                <a:cs typeface="SimSun"/>
              </a:rPr>
              <a:t>针对康复医疗、教育及娱乐领域推🎧</a:t>
            </a:r>
            <a:r>
              <a:rPr sz="1600" spc="-10" dirty="0">
                <a:latin typeface="SimSun"/>
                <a:cs typeface="SimSun"/>
              </a:rPr>
              <a:t>定制解决方案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通过演示视频、开源社区及行业展会建立品牌认知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19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695661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099"/>
                </a:lnTo>
                <a:lnTo>
                  <a:pt x="0" y="38099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16764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9. </a:t>
            </a:r>
            <a:r>
              <a:rPr spc="-15" dirty="0">
                <a:latin typeface="Microsoft JhengHei UI"/>
                <a:cs typeface="Microsoft JhengHei UI"/>
              </a:rPr>
              <a:t>盈利模式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多层次可持续盈利模式：</a:t>
            </a: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/>
              <a:t>核心硬件模块销售（关节组件与腰部系统</a:t>
            </a:r>
            <a:r>
              <a:rPr sz="1600" spc="-50" dirty="0"/>
              <a:t>）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技术授权与知识产权许可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定制开发与系统集成服务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未来开源社区增值服务及应用订阅</a:t>
            </a:r>
            <a:endParaRPr sz="1600"/>
          </a:p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dirty="0"/>
              <a:t>预计随人形机械人市场爆发，</a:t>
            </a:r>
            <a:r>
              <a:rPr dirty="0">
                <a:latin typeface="Times New Roman"/>
                <a:cs typeface="Times New Roman"/>
              </a:rPr>
              <a:t>3–5 </a:t>
            </a:r>
            <a:r>
              <a:rPr spc="-5" dirty="0"/>
              <a:t>年内可实现规模化盈利。</a:t>
            </a: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8321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10. </a:t>
            </a:r>
            <a:r>
              <a:rPr spc="-10" dirty="0"/>
              <a:t>风险与应对措施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4824" y="1250396"/>
          <a:ext cx="9478645" cy="3141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Microsoft JhengHei"/>
                          <a:cs typeface="Microsoft JhengHei"/>
                        </a:rPr>
                        <a:t>风险名称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Microsoft JhengHei"/>
                          <a:cs typeface="Microsoft JhengHei"/>
                        </a:rPr>
                        <a:t>风险描述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15" dirty="0">
                          <a:latin typeface="Microsoft JhengHei UI"/>
                          <a:cs typeface="Microsoft JhengHei UI"/>
                        </a:rPr>
                        <a:t>解决方案</a:t>
                      </a:r>
                      <a:endParaRPr sz="16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317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SimSun"/>
                          <a:cs typeface="SimSun"/>
                        </a:rPr>
                        <a:t>技术风险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腱缆长期磨损、弹簧回程间隙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40" dirty="0">
                          <a:latin typeface="SimSun"/>
                          <a:cs typeface="SimSun"/>
                        </a:rPr>
                        <a:t>选用高强度低摩擦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Dyneema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80" dirty="0">
                          <a:latin typeface="SimSun"/>
                          <a:cs typeface="SimSun"/>
                        </a:rPr>
                        <a:t>纤维，进行加速</a:t>
                      </a:r>
                      <a:endParaRPr sz="16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寿命测试，并开发自适应张力补偿算法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制造成本风险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量产时成本超出预期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采用欠驱动设计减少电机数量，优化供应链</a:t>
                      </a:r>
                      <a:endParaRPr sz="16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并批量采购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市场接受风险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整机厂商对新方案接受度低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SimSun"/>
                          <a:cs typeface="SimSun"/>
                        </a:rPr>
                        <a:t>提供开源代码与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MuJoCo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SimSun"/>
                          <a:cs typeface="SimSun"/>
                        </a:rPr>
                        <a:t>仿真模型，推出小</a:t>
                      </a:r>
                      <a:endParaRPr sz="16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5" dirty="0">
                          <a:latin typeface="SimSun"/>
                          <a:cs typeface="SimSun"/>
                        </a:rPr>
                        <a:t>批量验证套件逐步建立案例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供应链风险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SimSun"/>
                          <a:cs typeface="SimSun"/>
                        </a:rPr>
                        <a:t>关键材料供应不稳定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SimSun"/>
                          <a:cs typeface="SimSun"/>
                        </a:rPr>
                        <a:t>开发替代材料方案，并与多家供应商建立战</a:t>
                      </a:r>
                      <a:endParaRPr sz="16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20" dirty="0">
                          <a:latin typeface="SimSun"/>
                          <a:cs typeface="SimSun"/>
                        </a:rPr>
                        <a:t>略合作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484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11.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dirty="0">
                <a:latin typeface="Microsoft JhengHei UI"/>
                <a:cs typeface="Microsoft JhengHei UI"/>
              </a:rPr>
              <a:t>核心</a:t>
            </a:r>
            <a:r>
              <a:rPr spc="-15" dirty="0"/>
              <a:t>团队优势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4824" y="1250396"/>
          <a:ext cx="9478645" cy="2471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b="1" dirty="0">
                          <a:latin typeface="Microsoft JhengHei UI"/>
                          <a:cs typeface="Microsoft JhengHei UI"/>
                        </a:rPr>
                        <a:t>成</a:t>
                      </a:r>
                      <a:r>
                        <a:rPr sz="1500" b="1" spc="-50" dirty="0">
                          <a:latin typeface="Microsoft JhengHei"/>
                          <a:cs typeface="Microsoft JhengHei"/>
                        </a:rPr>
                        <a:t>员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b="1" spc="-25" dirty="0">
                          <a:latin typeface="Microsoft JhengHei UI"/>
                          <a:cs typeface="Microsoft JhengHei UI"/>
                        </a:rPr>
                        <a:t>角色</a:t>
                      </a:r>
                      <a:endParaRPr sz="15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698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b="1" spc="-25" dirty="0">
                          <a:latin typeface="Microsoft JhengHei UI"/>
                          <a:cs typeface="Microsoft JhengHei UI"/>
                        </a:rPr>
                        <a:t>描述</a:t>
                      </a:r>
                      <a:endParaRPr sz="1500">
                        <a:latin typeface="Microsoft JhengHei UI"/>
                        <a:cs typeface="Microsoft JhengHei UI"/>
                      </a:endParaRPr>
                    </a:p>
                  </a:txBody>
                  <a:tcPr marL="0" marR="0" marT="698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Patrick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Lee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SimSun"/>
                          <a:cs typeface="SimSun"/>
                        </a:rPr>
                        <a:t>项目管理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25" dirty="0">
                          <a:latin typeface="SimSun"/>
                          <a:cs typeface="SimSun"/>
                        </a:rPr>
                        <a:t>拥有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30 </a:t>
                      </a:r>
                      <a:r>
                        <a:rPr sz="1500" spc="-55" dirty="0">
                          <a:latin typeface="SimSun"/>
                          <a:cs typeface="SimSun"/>
                        </a:rPr>
                        <a:t>年海外及国内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IT/AI </a:t>
                      </a:r>
                      <a:r>
                        <a:rPr sz="1500" spc="-10" dirty="0">
                          <a:latin typeface="SimSun"/>
                          <a:cs typeface="SimSun"/>
                        </a:rPr>
                        <a:t>项目管理经验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63500">
                        <a:lnSpc>
                          <a:spcPts val="17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Sam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Lau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SimSun"/>
                          <a:cs typeface="SimSun"/>
                        </a:rPr>
                        <a:t>系统开发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35" dirty="0">
                          <a:latin typeface="SimSun"/>
                          <a:cs typeface="SimSun"/>
                        </a:rPr>
                        <a:t>年轻且富有创意的开源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IT/AI </a:t>
                      </a:r>
                      <a:r>
                        <a:rPr sz="1500" spc="-10" dirty="0">
                          <a:latin typeface="SimSun"/>
                          <a:cs typeface="SimSun"/>
                        </a:rPr>
                        <a:t>系统开发者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 marL="63500">
                        <a:lnSpc>
                          <a:spcPts val="17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Carson</a:t>
                      </a:r>
                      <a:r>
                        <a:rPr sz="15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Wu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SimSun"/>
                          <a:cs typeface="SimSun"/>
                        </a:rPr>
                        <a:t>技术设计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225" dirty="0">
                          <a:latin typeface="SimSun"/>
                          <a:cs typeface="SimSun"/>
                        </a:rPr>
                        <a:t>自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15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30" dirty="0">
                          <a:latin typeface="SimSun"/>
                          <a:cs typeface="SimSun"/>
                        </a:rPr>
                        <a:t>岁起开始钻研机械人设计，专注低成本人</a:t>
                      </a:r>
                      <a:endParaRPr sz="1500">
                        <a:latin typeface="SimSun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10" dirty="0">
                          <a:latin typeface="SimSun"/>
                          <a:cs typeface="SimSun"/>
                        </a:rPr>
                        <a:t>形机械人研发与迭代</a:t>
                      </a:r>
                      <a:endParaRPr sz="1500">
                        <a:latin typeface="SimSun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499" y="1607901"/>
            <a:ext cx="735895" cy="7358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22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336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 UI"/>
                <a:cs typeface="Microsoft JhengHei UI"/>
              </a:rPr>
              <a:t>本</a:t>
            </a:r>
            <a:r>
              <a:rPr dirty="0"/>
              <a:t>设计应</a:t>
            </a:r>
            <a:r>
              <a:rPr dirty="0">
                <a:latin typeface="Microsoft JhengHei UI"/>
                <a:cs typeface="Microsoft JhengHei UI"/>
              </a:rPr>
              <a:t>用</a:t>
            </a:r>
            <a:r>
              <a:rPr dirty="0"/>
              <a:t>场</a:t>
            </a:r>
            <a:r>
              <a:rPr spc="-50" dirty="0">
                <a:latin typeface="Microsoft JhengHei UI"/>
                <a:cs typeface="Microsoft JhengHei UI"/>
              </a:rPr>
              <a:t>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637540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虾壳式关节具有高灵活性、低成本和大范围运动能力，可广泛应用于：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人形机械人</a:t>
            </a:r>
            <a:r>
              <a:rPr sz="1600" spc="-5" dirty="0">
                <a:latin typeface="SimSun"/>
                <a:cs typeface="SimSun"/>
              </a:rPr>
              <a:t>：舞蹈表演、娱乐互动、服务机械人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康</a:t>
            </a:r>
            <a:r>
              <a:rPr sz="1600" b="1" dirty="0">
                <a:latin typeface="Microsoft JhengHei"/>
                <a:cs typeface="Microsoft JhengHei"/>
              </a:rPr>
              <a:t>复</a:t>
            </a:r>
            <a:r>
              <a:rPr sz="1600" b="1" dirty="0">
                <a:latin typeface="Microsoft JhengHei UI"/>
                <a:cs typeface="Microsoft JhengHei UI"/>
              </a:rPr>
              <a:t>医</a:t>
            </a:r>
            <a:r>
              <a:rPr sz="1600" b="1" dirty="0">
                <a:latin typeface="Microsoft JhengHei"/>
                <a:cs typeface="Microsoft JhengHei"/>
              </a:rPr>
              <a:t>疗</a:t>
            </a:r>
            <a:r>
              <a:rPr sz="1600" spc="-5" dirty="0">
                <a:latin typeface="SimSun"/>
                <a:cs typeface="SimSun"/>
              </a:rPr>
              <a:t>：外骨骼康复设备、辅助行走系统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工</a:t>
            </a:r>
            <a:r>
              <a:rPr sz="1600" b="1" dirty="0">
                <a:latin typeface="Microsoft JhengHei"/>
                <a:cs typeface="Microsoft JhengHei"/>
              </a:rPr>
              <a:t>业</a:t>
            </a:r>
            <a:r>
              <a:rPr sz="1600" b="1" dirty="0">
                <a:latin typeface="Microsoft JhengHei UI"/>
                <a:cs typeface="Microsoft JhengHei UI"/>
              </a:rPr>
              <a:t>制造</a:t>
            </a:r>
            <a:r>
              <a:rPr sz="1600" spc="-5" dirty="0">
                <a:latin typeface="SimSun"/>
                <a:cs typeface="SimSun"/>
              </a:rPr>
              <a:t>：柔性装配臂、协作机械人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教育与研究</a:t>
            </a:r>
            <a:r>
              <a:rPr sz="1600" dirty="0">
                <a:latin typeface="SimSun"/>
                <a:cs typeface="SimSun"/>
              </a:rPr>
              <a:t>：开源机械人平台、</a:t>
            </a:r>
            <a:r>
              <a:rPr sz="1600" dirty="0">
                <a:latin typeface="Times New Roman"/>
                <a:cs typeface="Times New Roman"/>
              </a:rPr>
              <a:t>STEM </a:t>
            </a:r>
            <a:r>
              <a:rPr sz="1600" dirty="0">
                <a:latin typeface="SimSun"/>
                <a:cs typeface="SimSun"/>
              </a:rPr>
              <a:t>教👉</a:t>
            </a:r>
            <a:r>
              <a:rPr sz="1600" spc="-25" dirty="0">
                <a:latin typeface="SimSun"/>
                <a:cs typeface="SimSun"/>
              </a:rPr>
              <a:t>套件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特</a:t>
            </a:r>
            <a:r>
              <a:rPr sz="1600" b="1" dirty="0">
                <a:latin typeface="Microsoft JhengHei"/>
                <a:cs typeface="Microsoft JhengHei"/>
              </a:rPr>
              <a:t>种领</a:t>
            </a:r>
            <a:r>
              <a:rPr sz="1600" b="1" dirty="0">
                <a:latin typeface="Microsoft JhengHei UI"/>
                <a:cs typeface="Microsoft JhengHei UI"/>
              </a:rPr>
              <a:t>域</a:t>
            </a:r>
            <a:r>
              <a:rPr sz="1600" spc="-10" dirty="0">
                <a:latin typeface="SimSun"/>
                <a:cs typeface="SimSun"/>
              </a:rPr>
              <a:t>：救援机械人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23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20066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 UI"/>
                <a:cs typeface="Microsoft JhengHei UI"/>
              </a:rPr>
              <a:t>市</a:t>
            </a:r>
            <a:r>
              <a:rPr dirty="0"/>
              <a:t>场运</a:t>
            </a:r>
            <a:r>
              <a:rPr spc="-20" dirty="0">
                <a:latin typeface="Microsoft JhengHei UI"/>
                <a:cs typeface="Microsoft JhengHei UI"/>
              </a:rPr>
              <a:t>作策略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4719955" cy="191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SimSun"/>
                <a:cs typeface="SimSun"/>
              </a:rPr>
              <a:t>我们将采取以下策略将技术优势转化为市场价值：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模块化销售及开放源代码，快速获取早期用户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与人形机械人整机厂商进行深度集成合作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SimSun"/>
                <a:cs typeface="SimSun"/>
              </a:rPr>
              <a:t>针对康复医疗、教育及娱乐领域推🎧</a:t>
            </a:r>
            <a:r>
              <a:rPr sz="1600" spc="-10" dirty="0">
                <a:latin typeface="SimSun"/>
                <a:cs typeface="SimSun"/>
              </a:rPr>
              <a:t>定制解决方案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SimSun"/>
                <a:cs typeface="SimSun"/>
              </a:rPr>
              <a:t>通过演示视频、开源社区及行业展会建立品牌认知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24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695661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099"/>
                </a:lnTo>
                <a:lnTo>
                  <a:pt x="0" y="38099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13462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Microsoft JhengHei UI"/>
                <a:cs typeface="Microsoft JhengHei UI"/>
              </a:rPr>
              <a:t>盈利模式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多层次可持续盈利模式：</a:t>
            </a: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/>
              <a:t>核心硬件模块销售（关节组件与腰部系统</a:t>
            </a:r>
            <a:r>
              <a:rPr sz="1600" spc="-50" dirty="0"/>
              <a:t>）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技术授权与知识产权许可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定制开发与系统集成服务</a:t>
            </a:r>
            <a:endParaRPr sz="1600"/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/>
              <a:t>未来开源社区增值服务及应用订阅</a:t>
            </a:r>
            <a:endParaRPr sz="1600"/>
          </a:p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dirty="0"/>
              <a:t>预计随人形机械人市场爆发，</a:t>
            </a:r>
            <a:r>
              <a:rPr dirty="0">
                <a:latin typeface="Times New Roman"/>
                <a:cs typeface="Times New Roman"/>
              </a:rPr>
              <a:t>3–5 </a:t>
            </a:r>
            <a:r>
              <a:rPr spc="-5" dirty="0"/>
              <a:t>年内可实现规模化盈利。</a:t>
            </a: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18415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12. </a:t>
            </a:r>
            <a:r>
              <a:rPr spc="-15" dirty="0"/>
              <a:t>项目需求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9472295" cy="233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Microsoft JhengHei"/>
                <a:cs typeface="Microsoft JhengHei"/>
              </a:rPr>
              <a:t>项目需求</a:t>
            </a:r>
            <a:r>
              <a:rPr sz="1600" spc="-50" dirty="0">
                <a:latin typeface="SimSun"/>
                <a:cs typeface="SimSun"/>
              </a:rPr>
              <a:t>：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 UI"/>
                <a:cs typeface="Microsoft JhengHei UI"/>
              </a:rPr>
              <a:t>集</a:t>
            </a:r>
            <a:r>
              <a:rPr sz="1600" b="1" dirty="0">
                <a:latin typeface="Microsoft JhengHei"/>
                <a:cs typeface="Microsoft JhengHei"/>
              </a:rPr>
              <a:t>资</a:t>
            </a:r>
            <a:r>
              <a:rPr sz="1600" spc="-30" dirty="0">
                <a:latin typeface="SimSun"/>
                <a:cs typeface="SimSun"/>
              </a:rPr>
              <a:t>：寻求战略投资或众筹，支持 </a:t>
            </a:r>
            <a:r>
              <a:rPr sz="1600" dirty="0">
                <a:latin typeface="Times New Roman"/>
                <a:cs typeface="Times New Roman"/>
              </a:rPr>
              <a:t>V6 </a:t>
            </a:r>
            <a:r>
              <a:rPr sz="1600" spc="-5" dirty="0">
                <a:latin typeface="SimSun"/>
                <a:cs typeface="SimSun"/>
              </a:rPr>
              <a:t>实物原型开发与小批量生产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"/>
                <a:cs typeface="Microsoft JhengHei"/>
              </a:rPr>
              <a:t>对接大学研究团队</a:t>
            </a:r>
            <a:r>
              <a:rPr sz="1600" spc="-5" dirty="0">
                <a:latin typeface="SimSun"/>
                <a:cs typeface="SimSun"/>
              </a:rPr>
              <a:t>：与香港及内地高校机械人实验室合作，进行联合研发与技术验证</a:t>
            </a:r>
            <a:endParaRPr sz="1600">
              <a:latin typeface="SimSun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Microsoft JhengHei"/>
                <a:cs typeface="Microsoft JhengHei"/>
              </a:rPr>
              <a:t>专利申请</a:t>
            </a:r>
            <a:r>
              <a:rPr sz="1600" spc="-20" dirty="0">
                <a:latin typeface="SimSun"/>
                <a:cs typeface="SimSun"/>
              </a:rPr>
              <a:t>：尽快申请核心技术专利</a:t>
            </a:r>
            <a:r>
              <a:rPr sz="1600" dirty="0">
                <a:latin typeface="SimSun"/>
                <a:cs typeface="SimSun"/>
              </a:rPr>
              <a:t>（</a:t>
            </a:r>
            <a:r>
              <a:rPr sz="1600" spc="-10" dirty="0">
                <a:latin typeface="SimSun"/>
                <a:cs typeface="SimSun"/>
              </a:rPr>
              <a:t>虾壳式多段关节结构、反向共轭面设计、欠驱动控制方法等</a:t>
            </a:r>
            <a:r>
              <a:rPr sz="1600" spc="-800" dirty="0">
                <a:latin typeface="SimSun"/>
                <a:cs typeface="SimSun"/>
              </a:rPr>
              <a:t>）</a:t>
            </a:r>
            <a:r>
              <a:rPr sz="1600" spc="-30" dirty="0">
                <a:latin typeface="SimSun"/>
                <a:cs typeface="SimSun"/>
              </a:rPr>
              <a:t>，保护</a:t>
            </a:r>
            <a:endParaRPr sz="1600">
              <a:latin typeface="SimSun"/>
              <a:cs typeface="SimSun"/>
            </a:endParaRPr>
          </a:p>
          <a:p>
            <a:pPr marL="210820">
              <a:lnSpc>
                <a:spcPct val="100000"/>
              </a:lnSpc>
              <a:spcBef>
                <a:spcPts val="1300"/>
              </a:spcBef>
            </a:pPr>
            <a:r>
              <a:rPr sz="1600" spc="-15" dirty="0">
                <a:latin typeface="SimSun"/>
                <a:cs typeface="SimSun"/>
              </a:rPr>
              <a:t>知识产权</a:t>
            </a:r>
            <a:endParaRPr sz="16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spc="-5" dirty="0">
                <a:latin typeface="SimSun"/>
                <a:cs typeface="SimSun"/>
              </a:rPr>
              <a:t>欢迎有意向的机构或投资人共同推进项目落地。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26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301071"/>
            <a:ext cx="13462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 UI"/>
                <a:cs typeface="Microsoft JhengHei UI"/>
              </a:rPr>
              <a:t>感</a:t>
            </a:r>
            <a:r>
              <a:rPr dirty="0"/>
              <a:t>谢</a:t>
            </a:r>
            <a:r>
              <a:rPr spc="-25" dirty="0">
                <a:latin typeface="Microsoft JhengHei UI"/>
                <a:cs typeface="Microsoft JhengHei UI"/>
              </a:rPr>
              <a:t>聆听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4550" y="1933103"/>
            <a:ext cx="288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3399"/>
                </a:solidFill>
                <a:latin typeface="Microsoft JhengHei UI"/>
                <a:cs typeface="Microsoft JhengHei UI"/>
              </a:rPr>
              <a:t>仿生</a:t>
            </a:r>
            <a:r>
              <a:rPr sz="2500" b="1" dirty="0">
                <a:solidFill>
                  <a:srgbClr val="003399"/>
                </a:solidFill>
                <a:latin typeface="Microsoft JhengHei"/>
                <a:cs typeface="Microsoft JhengHei"/>
              </a:rPr>
              <a:t>虾壳</a:t>
            </a:r>
            <a:r>
              <a:rPr sz="2500" b="1" dirty="0">
                <a:solidFill>
                  <a:srgbClr val="003399"/>
                </a:solidFill>
                <a:latin typeface="Microsoft JhengHei UI"/>
                <a:cs typeface="Microsoft JhengHei UI"/>
              </a:rPr>
              <a:t>式</a:t>
            </a:r>
            <a:r>
              <a:rPr sz="2500" b="1" spc="-15" dirty="0">
                <a:solidFill>
                  <a:srgbClr val="003399"/>
                </a:solidFill>
                <a:latin typeface="Microsoft JhengHei"/>
                <a:cs typeface="Microsoft JhengHei"/>
              </a:rPr>
              <a:t>关节设计</a:t>
            </a:r>
            <a:endParaRPr sz="25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99" y="3009556"/>
            <a:ext cx="9421495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5" dirty="0">
                <a:latin typeface="SimSun"/>
                <a:cs typeface="SimSun"/>
              </a:rPr>
              <a:t>通过仿生虾壳式机械人关节设计，我们致力于推动人形机械人技术平民化，让灵活、智能且高性价比的机械</a:t>
            </a:r>
            <a:endParaRPr sz="1600">
              <a:latin typeface="SimSun"/>
              <a:cs typeface="SimSun"/>
            </a:endParaRPr>
          </a:p>
          <a:p>
            <a:pPr marL="101600" algn="ctr">
              <a:lnSpc>
                <a:spcPct val="100000"/>
              </a:lnSpc>
              <a:spcBef>
                <a:spcPts val="1295"/>
              </a:spcBef>
            </a:pPr>
            <a:r>
              <a:rPr sz="1600" spc="-5" dirty="0">
                <a:latin typeface="SimSun"/>
                <a:cs typeface="SimSun"/>
              </a:rPr>
              <a:t>人系统走进每一家企业与学校，真正实现降本增效与智能化转型。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4300" y="4500028"/>
            <a:ext cx="180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SimSun"/>
                <a:cs typeface="SimSun"/>
              </a:rPr>
              <a:t>欢迎交流与合作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/>
              <a:t> / 27 </a:t>
            </a:r>
            <a:r>
              <a:rPr spc="-50" dirty="0">
                <a:latin typeface="SimSun"/>
                <a:cs typeface="SimSun"/>
              </a:rPr>
              <a:t>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841</Words>
  <Application>Microsoft Macintosh PowerPoint</Application>
  <PresentationFormat>Custom</PresentationFormat>
  <Paragraphs>267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Microsoft JhengHei</vt:lpstr>
      <vt:lpstr>Microsoft JhengHei UI</vt:lpstr>
      <vt:lpstr>SimSun</vt:lpstr>
      <vt:lpstr>Times New Roman</vt:lpstr>
      <vt:lpstr>Office Theme</vt:lpstr>
      <vt:lpstr>仿生虾壳式机械人关节设计</vt:lpstr>
      <vt:lpstr>项目名称与简介</vt:lpstr>
      <vt:lpstr>PowerPoint Presentation</vt:lpstr>
      <vt:lpstr>1. 理念由来（切入点）</vt:lpstr>
      <vt:lpstr>传统关节类型与应用场景对比</vt:lpstr>
      <vt:lpstr>PowerPoint Presentation</vt:lpstr>
      <vt:lpstr>PowerPoint Presentation</vt:lpstr>
      <vt:lpstr>2. 市场的需要（市场前景）</vt:lpstr>
      <vt:lpstr>3. 我们的方案</vt:lpstr>
      <vt:lpstr>4. 市场分析</vt:lpstr>
      <vt:lpstr>5. 设计对比（我们的优势）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7. 研发路径</vt:lpstr>
      <vt:lpstr>8. 市场运作策略</vt:lpstr>
      <vt:lpstr>9. 盈利模式</vt:lpstr>
      <vt:lpstr>10. 风险与应对措施</vt:lpstr>
      <vt:lpstr>11. 核心团队优势</vt:lpstr>
      <vt:lpstr>本设计应用场景</vt:lpstr>
      <vt:lpstr>市场运作策略</vt:lpstr>
      <vt:lpstr>盈利模式</vt:lpstr>
      <vt:lpstr>12. 项目需求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4D26-WU TSZ SAN CARSON</cp:lastModifiedBy>
  <cp:revision>1</cp:revision>
  <dcterms:created xsi:type="dcterms:W3CDTF">2026-04-12T03:10:25Z</dcterms:created>
  <dcterms:modified xsi:type="dcterms:W3CDTF">2026-04-12T03:11:15Z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2026-04-12T00:00:00Z</vt:filetime>
  </property>
  <property fmtid="{D5CDD505-2E9C-101B-9397-08002B2CF9AE}" pid="3" name="Creator">
    <vt:lpwstr>Typst 0.14.2</vt:lpwstr>
  </property>
  <property fmtid="{D5CDD505-2E9C-101B-9397-08002B2CF9AE}" pid="4" name="LastSaved">
    <vt:filetime>2026-04-12T00:00:00Z</vt:filetime>
  </property>
</Properties>
</file>